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9144000" cy="54864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0" kern="0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高雄洲際酒店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美食大富翁 · 全功能使用手冊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95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Culinary Journey · Full Operations Manual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 ·  May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C780"/>
                </a:solidFill>
              </a:rPr>
              <a:t>包含新功能 / New in v2: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掛房帳 Room Charge  ·  ⏱ QR 失效提示 Expiry Banner  ·  📊 後台儀表板升級 Dashboard Upgrade  ·  🔑 URL Token 分享 External Token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Director of Digital Marketing  ·  Tony Chen  ·  tony.chen6@ihg.com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目錄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92608" cy="292608"/>
          </a:xfrm>
          <a:prstGeom prst="ellipse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8503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遊戲概念 · Game Concept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Monopoly-style customer engagement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197864"/>
            <a:ext cx="292608" cy="292608"/>
          </a:xfrm>
          <a:prstGeom prst="ellipse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97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1795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客人完整流程 · Customer Journey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→ Earn dice → Roll → Win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27048"/>
            <a:ext cx="292608" cy="292608"/>
          </a:xfrm>
          <a:prstGeom prst="ellipse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1508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三種兌換方式 · Three Redeem Methods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when to use which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856232"/>
            <a:ext cx="292608" cy="292608"/>
          </a:xfrm>
          <a:prstGeom prst="ellipse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18379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一般結帳 · Regular Checkout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required, dice issued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85416"/>
            <a:ext cx="292608" cy="292608"/>
          </a:xfrm>
          <a:prstGeom prst="ellipse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1671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掛房帳 · Room Charge  (NEW)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guests, no invoice needed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514600"/>
            <a:ext cx="292608" cy="292608"/>
          </a:xfrm>
          <a:prstGeom prst="ellipse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24963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客人自掃發票 · Self-Scan Invoice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scans e-invoice QR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868680"/>
            <a:ext cx="292608" cy="292608"/>
          </a:xfrm>
          <a:prstGeom prst="ellipse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868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6048" y="8503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QR 失效機制 · QR Expiry Rules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TTL, warning banner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197864"/>
            <a:ext cx="292608" cy="292608"/>
          </a:xfrm>
          <a:prstGeom prst="ellipse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197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11795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遊戲規則 · Game Rules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formula, board, rewards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1527048"/>
            <a:ext cx="292608" cy="292608"/>
          </a:xfrm>
          <a:prstGeom prst="ellipse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56048" y="1508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後台儀表板 · Admin Dashboard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list, drill-down, CSV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1856232"/>
            <a:ext cx="292608" cy="292608"/>
          </a:xfrm>
          <a:prstGeom prst="ellipse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56048" y="18379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分享後台 · Share Dashboard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token for external viewers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2185416"/>
            <a:ext cx="292608" cy="292608"/>
          </a:xfrm>
          <a:prstGeom prst="ellipse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56048" y="21671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故障排除 · Troubleshooting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+ recovery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2514600"/>
            <a:ext cx="292608" cy="292608"/>
          </a:xfrm>
          <a:prstGeom prst="ellipse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56048" y="24963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重要網址速查 · Quick URLs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entry points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遊戲概念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Concept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9659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1A7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1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間餐廳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777240"/>
            <a:ext cx="19659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9F5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822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1463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格棋盤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6916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19659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822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1463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 = 15 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6916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777240"/>
            <a:ext cx="19659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822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NT$2K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12280" y="1463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顆骰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12280" y="16916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194560"/>
            <a:ext cx="8412480" cy="2331720"/>
          </a:xfrm>
          <a:prstGeom prst="rect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核心玩法 · How It Works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客人在 IC 高雄 5 間餐廳消費後,每 NT$2,000 換 1 顆骰子(上限 5 顆/次),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LINE LIFF 內擲骰前進棋盤,每格有不同獎勵(固定獎 / 抽獎 / 過關獎)。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走完 15 格完成一季,可以無限循環刷新獎勵池。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earn dice by spending at IC Kaohsiung restaurants (NT$2,000 = 1 dice, max 5 per issuance).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roll in the LINE LIFF webview to advance on a 15-tile board. Each tile yields fixed gifts, lottery draws, or season-completion bonuses.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客人完整流程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0116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1A7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2011680" cy="59436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32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0881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LINE OA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 LINE 好友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掃店內 QR 或點桌牌連結加好友,自動建資料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in-store QR; profile auto-created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F50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777240"/>
            <a:ext cx="20116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777240"/>
            <a:ext cx="20116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832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10881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DICE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748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取得骰子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21488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用餐結帳後,3 種方式之一兌換骰子(下頁說明)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meal, redeem via one of 3 methods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F50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777240"/>
            <a:ext cx="20116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777240"/>
            <a:ext cx="20116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32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0881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&amp; ADVANCE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擲骰前進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37760" y="21488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LIFF 內擲骰,每顆骰子前進 1-6 格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inside LIFF; each die = 1-6 squares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084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F50"/>
                </a:solidFill>
              </a:rPr>
              <a:t>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49440" y="777240"/>
            <a:ext cx="20116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89F5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777240"/>
            <a:ext cx="2011680" cy="594360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832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10881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PRIZES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8660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領取獎品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21488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踩到固定格或抽中獎品 → 出示獎品畫面給服務人員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 prize tile → show prize screen to staff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solidFill>
            <a:srgbClr val="00134F"/>
          </a:solidFill>
          <a:ln w="12700">
            <a:solidFill>
              <a:srgbClr val="0013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客人入口 · Customer entry: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https://liff.line.me/1656533531-U5OvwB62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三種兌換方式比較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Redeem Methods · Comparison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1371600"/>
                <a:gridCol w="12801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方式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適用場景 When to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需要發票? Invoice?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操作者 Issued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防雙領 Anti-Dup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A7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💳 一般結帳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Checkout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顧客現場拿到統一發票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got e-invoice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必填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工作人員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發票編號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invoice no.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🏨 掛房帳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Charge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房客把餐費掛房號,退房結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 signs to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不需要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工作人員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無 — 請確認金額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verify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📄 自掃發票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Self-Scan Invoice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客人自助掃 e-invoice QR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self-scans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必填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發票編號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invoice no.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023360"/>
            <a:ext cx="841248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服務人員的『一般結帳』和『掛房帳』走同一個入口頁,只是上面有一個切換鈕。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toggles between the two on the same /admin/checkout page.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一般結帳流程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Checkout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822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工作人員打開 /admin/checkout 輸入每日 PIN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opens /admin/checkout, enters daily PIN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435608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3898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確認模式是『💳 一般結帳』(橘色)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mode is 💳 Regular Checkout (amber)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002536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19568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輸入小白單上的發票編號(例:BM36258896)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invoice number from receipt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569464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5237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輸入消費金額(NT$),系統即時試算骰子數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amount; dice count previews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136392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090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按下『✓ 產生結帳 QR』,QR Code 出現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'Generate Checkout QR'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70332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657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請客人現場用 LINE 相機掃 → 骰子入帳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scans with LINE; dice credited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868680"/>
            <a:ext cx="3749040" cy="37490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重要規則  ·  Key Rules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13716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金額需 ≥ NT$2,000 才有擲骰機會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must be ≥ NT$2,000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20116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1965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NT$2,000 = 1 顆骰,上限 5 顆/次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NT$2,000 = 1 dice, max 5 / issuance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0680" y="2560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同一張發票編號只能用一次(防雙領)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invoice no. usable once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32004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3154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失效時間:2 分鐘 ⏱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TTL: 2 minutes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3794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•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37490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過期後需重新產生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after expiry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掛房帳模式  (新功能 NEW)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Charge Mode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777240"/>
          </a:xfrm>
          <a:prstGeom prst="rect">
            <a:avLst/>
          </a:prstGeom>
          <a:solidFill>
            <a:srgbClr val="E0E7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🏨  </a:t>
            </a:r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什麼情況用?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房客把餐費掛到房號,退房時由櫃台跟房費一起結 — 因此小白單沒有統一發票,一般結帳模式會失敗。</a:t>
            </a:r>
            <a:endParaRPr lang="en-US" sz="220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guests sign meals to their room. No 統一發票 issued — Front Office settles at checkout.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206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28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操作步驟 · How 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 /admin/checkout 後點上方 「🏨 掛房帳」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🏨 Room Charge toggle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畫面變藍紫色,發票欄消失 ✅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turns indigo, invoice field hidden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063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只需輸入消費金額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enter the amount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520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按下『🏨 產生掛房帳 QR』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'Generate Room Charge QR'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977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客人掃 → 骰子入帳(2 分鐘內)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scans within 2 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691640"/>
            <a:ext cx="402336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與一般結帳的不同  ·  Key Differences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2194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不需要發票編號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invoice number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788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66360" y="2743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沒有『同一發票防雙領』機制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anti-double-redeem guard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337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66360" y="32918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工作人員務必確認金額無誤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MUST verify amount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886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•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66360" y="3840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後台事件顯示『🏨 掛房帳兌換』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as 🏨 in dashboard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客人自掃發票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Self-Scan Invoice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solidFill>
            <a:srgbClr val="E0F2FE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客人不用麻煩服務人員 — 自己用 LIFF 內建掃描器拍小白單 QR 即可入帳。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scans the e-invoice QR on their receipt in-LIFF; no staff involvement.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187452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LIFF 內點『掃發票』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'Scan Invoice'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9F50"/>
                </a:solidFill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60320" y="169164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87452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2468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對準小白單上的 QR Code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at receipt QR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9F50"/>
                </a:solidFill>
              </a:rPr>
              <a:t>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54880" y="169164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32120" y="187452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2468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系統讀取金額 + 發票編號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reads amount + invoice no.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9F50"/>
                </a:solidFill>
              </a:rPr>
              <a:t>▶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49440" y="169164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26680" y="187452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2468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骰子立即入帳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credited instantly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8412480" cy="109728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1188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優點 · Why prefer this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完全不佔用工作人員時間  ·  Zero staff workload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系統自動讀正確金額,杜絕輸入錯誤  ·  Auto-read amount, no typos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客人在離開餐廳後 24 小時內仍可補掃  ·  Customer can scan up to 24 hr after meal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QR 失效機制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Expiry Rules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657600" cy="338328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分鐘 · minutes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失效時間 · QR Time-To-Live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32918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37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⏱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 QR Code 將於 </a:t>
            </a:r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1:45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後失效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請客人現場掃描,過期需重新產生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868680"/>
            <a:ext cx="4480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1A7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34840" y="960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為什麼短? · Why so short?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12801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 QR 被偷拍 — 2 分鐘後死掉,撿到的人也用不了。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請客人現場掃,別讓他帶走小白單再說『等等掃』。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photo theft. Ask the guest to scan at the table, not later.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2606040"/>
            <a:ext cx="4480560" cy="16459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697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過期了怎麼辦? · What if it expires?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30175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畫面變紅,顯示『QR Code 已過期』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按下方『重新產生』即可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同一張發票編號 backend 會記得 — 你不用重新打發票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'Regenerate' — invoice no. is still bound, no need to retype.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遊戲規則細節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91440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  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骰子公式  ·  Dice Formula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    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Math.floor(消費金額 ÷ 2000),上限 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例:NT$5,000 → 2 顆 ·  NT$11,000 → 5 顆(已達上限) ·  NT$1,800 → 0 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1A7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74520"/>
            <a:ext cx="2743200" cy="45720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棋盤 · 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格 = 1 季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踩到某些格有固定獎品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其他格觸發抽獎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走完 15 格 = 季完成獎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新季自動開啟 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F5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874520"/>
            <a:ext cx="2743200" cy="457200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獎勵類型 · Rewards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46888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固定獎 — 踩到必中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抽獎獎 — 機率抽出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季完成獎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領獎時出示畫面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由服務人員兌換實體品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874520"/>
            <a:ext cx="27432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防作弊 · Anti-Fraud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46888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賣方統編 allowlist 鎖定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發票編號去重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2 分鐘 TTL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原子化交易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工作人員白名單 + PIN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後台儀表板總覽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solidFill>
            <a:srgbClr val="00134F"/>
          </a:solidFill>
          <a:ln w="12700">
            <a:solidFill>
              <a:srgbClr val="0013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 </a:t>
            </a:r>
            <a:pPr indent="0" marL="0">
              <a:buNone/>
            </a:pPr>
            <a:r>
              <a:rPr lang="en-US" sz="10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後台網址 · Dashboard URL: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https://ickhh-culinary-game-v2.zeabur.app/admin/customers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1A7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91440" cy="132588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3444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客戶漏斗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011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看每一段的轉化率:加好友 → 綁餐廳 → 完成兌換 → 領到獎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conversion across 4 stages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F5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08760"/>
            <a:ext cx="91440" cy="1325880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🏬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2356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各餐廳活動次數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Per-Restaurant Activity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2011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間餐廳即時統計;點任一間 → 該餐廳客戶清單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5-outlet stats; click to drill down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91440" cy="1325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23444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客戶清單 + 詳情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List &amp; Detail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排序、搜尋、CSV 匯出;點任一筆看互動歷程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search, CSV export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71800"/>
            <a:ext cx="91440" cy="1325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62356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事件歷程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Timeline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34747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區分 🏨 掛房帳 vs 💳 結帳 vs 📄 自掃,清楚標示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separate the three sources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客戶漏斗 — 看轉化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011680" cy="1828800"/>
          </a:xfrm>
          <a:prstGeom prst="rect">
            <a:avLst/>
          </a:prstGeom>
          <a:solidFill>
            <a:srgbClr val="001A70">
              <a:alpha val="0"/>
            </a:srgbClr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1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加好友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Friend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9F50"/>
                </a:solidFill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0" y="960120"/>
            <a:ext cx="2011680" cy="1828800"/>
          </a:xfrm>
          <a:prstGeom prst="rect">
            <a:avLst/>
          </a:prstGeom>
          <a:solidFill>
            <a:srgbClr val="001A70">
              <a:alpha val="20000"/>
            </a:srgbClr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143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1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256032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綁餐廳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Restaurant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9F50"/>
                </a:solidFill>
              </a:rPr>
              <a:t>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2011680" cy="1828800"/>
          </a:xfrm>
          <a:prstGeom prst="rect">
            <a:avLst/>
          </a:prstGeom>
          <a:solidFill>
            <a:srgbClr val="001A70">
              <a:alpha val="40000"/>
            </a:srgbClr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43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475488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完成兌換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9F50"/>
                </a:solidFill>
              </a:rPr>
              <a:t>▶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49440" y="960120"/>
            <a:ext cx="2011680" cy="1828800"/>
          </a:xfrm>
          <a:prstGeom prst="rect">
            <a:avLst/>
          </a:prstGeom>
          <a:solidFill>
            <a:srgbClr val="001A70">
              <a:alpha val="60000"/>
            </a:srgbClr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143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94944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領到獎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Prize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8412480" cy="1508760"/>
          </a:xfrm>
          <a:prstGeom prst="rect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2461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怎麼看 · How to read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每兩段間有『流失幾人』的小數字 — 把問題集中在最大的那一段。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例:34 人加好友但只有 3 人綁餐廳 → 流失 31 人,行銷端的桌牌引導需加強。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drop-off between stages. Focus on the largest gap.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🏬 各餐廳活動 + 點擊篩選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Per-Restaurant Activity &amp; Drill-Down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93776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B89F5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937760" cy="411480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🏬 各餐廳活動次數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ZL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中庭咖啡廳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Atrium Lounge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人  </a:t>
            </a:r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蘊日本料理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Wun Japanese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人  </a:t>
            </a:r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93776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60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Sundays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Sundays Buffet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人  </a:t>
            </a:r>
            <a:pPr algn="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NT$2,622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HW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Hawker Market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Hawker Market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人  </a:t>
            </a:r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BLT33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BLT33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749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人  </a:t>
            </a:r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868680"/>
            <a:ext cx="3291840" cy="37490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點擊功能 · Click to Filter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23560" y="13716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點某一間餐廳列(例 SD)→ 客戶清單立即縮成只有去過 SD 的客戶。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row → list filters to that restaurant's customers.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再點同一間 = 取消篩選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點不同間 = 切換篩選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上方有 chip 顯示當前篩選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用途:看 SD 的常客有沒有特別偏好,排其他餐廳的促銷。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客戶事件歷程 — 分得很清楚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Event Timeline · Now Differentiated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solidFill>
            <a:srgbClr val="E0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412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新版可從 payload.ticket_source 區分 🏨 掛房帳 vs 💳 結帳。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timeline now splits 🏨 vs 💳 vs 📄 with distinct labels.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71600"/>
            <a:ext cx="54864" cy="384048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371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加好友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Friend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1371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05/15 14:23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841248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47088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470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18470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結帳兌換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Checkout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18470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NT$5,000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06640" y="1847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05/15 19:45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22576"/>
            <a:ext cx="841248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322576"/>
            <a:ext cx="54864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3225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23225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擲骰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Dice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23225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05/15 19:46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798064"/>
            <a:ext cx="841248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798064"/>
            <a:ext cx="54864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79806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279806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掛房帳兌換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Charge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7980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NT$3,200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27980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05/17 12:30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273552"/>
            <a:ext cx="841248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273552"/>
            <a:ext cx="54864" cy="384048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2735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🎁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32735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抽中獎品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Lottery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32735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05/17 12:31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749040"/>
            <a:ext cx="841248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749040"/>
            <a:ext cx="54864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7490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60120" y="37490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客人自掃發票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Self-Scan Invoice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3749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NT$4,500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06640" y="3749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05/20 21:10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分享後台給夥伴 — URL Token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Dashboard via URL Token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把一條帶 ?key= 的 URL 分享給信任的人,他們不用 LINE 登入就能看到後台。</a:t>
            </a:r>
            <a:endParaRPr lang="en-US" sz="16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URL with a secret key — recipients view the dashboard without LINE login.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594360"/>
          </a:xfrm>
          <a:prstGeom prst="rect">
            <a:avLst/>
          </a:prstGeom>
          <a:solidFill>
            <a:srgbClr val="00134F"/>
          </a:solidFill>
          <a:ln w="12700">
            <a:solidFill>
              <a:srgbClr val="0013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https://ickhh-culinary-game-v2.zeabur.app/admin/customers</a:t>
            </a:r>
            <a:pPr indent="0" marL="0">
              <a:buNone/>
            </a:pPr>
            <a:r>
              <a:rPr lang="en-US" sz="1100" b="1" dirty="0">
                <a:solidFill>
                  <a:srgbClr val="B89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?key=&lt;32-hex&gt;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206240" cy="22860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優點 · Pros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3931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不需把對方 LINE userId 加進白名單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客戶端不需 LINE 登入,任何瀏覽器即可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可隨時 rotate(換新 key)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userId management, any browser, rotatable.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4023360" cy="22860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風險 · Risks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74320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 被截圖/書籤/誤貼 → PII 全外流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無法針對單一人撤銷,只能 rotate 全部換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沒有審計追蹤 — 不知道誰看了什麼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≤ 5 trusted internal viewers only.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故障排除 — 常見狀況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9144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❓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客人說『我已經掃過 QR 為什麼沒入帳?』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scanned but no dice credited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366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 /admin/customers 搜該客戶 → 看 events 是否有 activate 紀錄。沒有的話請客人重掃或重新產生。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events for activate. If none, ask guest to rescan.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01368"/>
            <a:ext cx="91440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9280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❓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後台跳『您不在服務人員白名單』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are not in staff whitelist'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8366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畫面有顯示你的 userId — 截圖傳給 IT 加進白名單,或用 URL token 進入。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userId shown on the page to IT, or use URL token.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34056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34056"/>
            <a:ext cx="91440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25496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❓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後台跳『⏰ 連線逾時 IdToken expired』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'Connection timeout — IdToken expired'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145536"/>
            <a:ext cx="8366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LIFF token 1 小時就會過期 — 按下方『🔄 重新登入』即可拿新 token。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'🔄 Re-login' to refresh LIFF token.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66744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66744"/>
            <a:ext cx="9144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58184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❓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/admin/checkout 跳『PIN 錯誤』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'Invalid PIN' on /admin/checkout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078224"/>
            <a:ext cx="8366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是每日由餐飲部主管發 — 跟主管要當日 PIN。瀏覽器關閉後需重輸。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PIN from F&amp;B manager; re-enter after closing browser.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重要網址速查表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12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URL Reference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201168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客人入口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Entry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96012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https://liff.line.me/1656533531-U5OvwB62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132588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貼桌牌 / 圖文選單 / 海報 QR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cards, OA menu, posters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28800"/>
            <a:ext cx="201168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工作人員結帳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Checkout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192024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https://ickhh-culinary-game-v2.zeabur.app/admin/checkout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28600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結帳 / 🏨 掛房帳 都從這進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modes start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1A7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88920"/>
            <a:ext cx="2011680" cy="868680"/>
          </a:xfrm>
          <a:prstGeom prst="rect">
            <a:avLst/>
          </a:prstGeom>
          <a:solidFill>
            <a:srgbClr val="001A70"/>
          </a:solidFill>
          <a:ln w="12700">
            <a:solidFill>
              <a:srgbClr val="001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後台儀表板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14600" y="288036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https://ickhh-culinary-game-v2.zeabur.app/admin/customers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324612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 LIFF 登入 + 白名單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LIFF + whitelist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49040"/>
            <a:ext cx="2011680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後台(免登入)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(no login)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14600" y="384048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...?key=&lt;32-hex&gt;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14600" y="420624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token 模式,給信任的人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URL-token mode for trusted viewers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· Culinary Journey · Staff Manual v2 · 2026-05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1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54864"/>
          </a:xfrm>
          <a:prstGeom prst="rect">
            <a:avLst/>
          </a:prstGeom>
          <a:solidFill>
            <a:srgbClr val="B89F50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謝謝你的耐心讀完  ·  Thanks for reading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有問題隨時找  ·  Reach out anytime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 / 行銷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Marketing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Chen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tony.chen6@ihg.com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 / 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697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566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(請洽 Tony)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C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Kaohsiung Culinary Journey  ·  Full Manual v2  ·  2026-05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Culinary Journey — Full Manual v2</dc:title>
  <dc:subject>PptxGenJS Presentation</dc:subject>
  <dc:creator>Tony Chen · IC Kaohsiung</dc:creator>
  <cp:lastModifiedBy>Tony Chen · IC Kaohsiung</cp:lastModifiedBy>
  <cp:revision>1</cp:revision>
  <dcterms:created xsi:type="dcterms:W3CDTF">2026-05-21T13:23:48Z</dcterms:created>
  <dcterms:modified xsi:type="dcterms:W3CDTF">2026-05-21T13:23:48Z</dcterms:modified>
</cp:coreProperties>
</file>