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39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300" kern="0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InterContinental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46304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AD9D6"/>
                </a:solidFill>
              </a:rPr>
              <a:t>KAOHSIUNG · 高雄洲際酒店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731520" y="2194560"/>
            <a:ext cx="13716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24688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員工操作手冊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731520" y="3383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spc="200" kern="0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 Operations Guide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31520" y="4160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AD9D6"/>
                </a:solidFill>
              </a:rPr>
              <a:t>餐飲味蕾旅程 · 大富翁遊戲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4617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AD9D6"/>
                </a:solidFill>
              </a:rPr>
              <a:t>F&amp;B Culinary Journey · Monopoly Game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5852160"/>
            <a:ext cx="1060704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AD9D6"/>
                </a:solidFill>
              </a:rPr>
              <a:t>Tony Chen  ·  Cluster Director of Digital Marketing  ·  tony.chen6@ihg.com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v2026-05-18  ·  Demo 2026-05-31  ·  All 5 F&amp;B outlets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關於這個遊戲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200" kern="0" dirty="0">
                <a:solidFill>
                  <a:srgbClr val="686869"/>
                </a:solidFill>
              </a:rPr>
              <a:t>About the Game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9728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11064240" cy="1371600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客人在 IC 餐廳消費 </a:t>
            </a:r>
            <a:pPr indent="0" marL="0">
              <a:buNone/>
            </a:pPr>
            <a:r>
              <a:rPr lang="en-US" sz="2200" dirty="0">
                <a:solidFill>
                  <a:srgbClr val="CEB4A9"/>
                </a:solidFill>
              </a:rPr>
              <a:t>→ </a:t>
            </a:r>
            <a:pPr indent="0" marL="0">
              <a:buNone/>
            </a:pPr>
            <a:r>
              <a:rPr lang="en-US" sz="2200" b="1" dirty="0">
                <a:solidFill>
                  <a:srgbClr val="CEB4A9"/>
                </a:solidFill>
              </a:rPr>
              <a:t>拿擲骰機會 </a:t>
            </a:r>
            <a:pPr indent="0" marL="0">
              <a:buNone/>
            </a:pPr>
            <a:r>
              <a:rPr lang="en-US" sz="2200" dirty="0">
                <a:solidFill>
                  <a:srgbClr val="CEB4A9"/>
                </a:solidFill>
              </a:rPr>
              <a:t>→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走大富翁 </a:t>
            </a:r>
            <a:pPr indent="0" marL="0">
              <a:buNone/>
            </a:pPr>
            <a:r>
              <a:rPr lang="en-US" sz="2200" dirty="0">
                <a:solidFill>
                  <a:srgbClr val="CEB4A9"/>
                </a:solidFill>
              </a:rPr>
              <a:t>→ </a:t>
            </a:r>
            <a:pPr indent="0" marL="0">
              <a:buNone/>
            </a:pPr>
            <a:r>
              <a:rPr lang="en-US" sz="2200" b="1" dirty="0">
                <a:solidFill>
                  <a:srgbClr val="CEB4A9"/>
                </a:solidFill>
              </a:rPr>
              <a:t>抽獎拿餐券</a:t>
            </a:r>
            <a:endParaRPr lang="en-US" sz="2200" dirty="0"/>
          </a:p>
          <a:p>
            <a:pPr indent="0" marL="0">
              <a:buNone/>
            </a:pPr>
            <a:r>
              <a:rPr lang="en-US" sz="1400" i="1" dirty="0">
                <a:solidFill>
                  <a:srgbClr val="DAD9D6"/>
                </a:solidFill>
              </a:rPr>
              <a:t>Customer dines → earns dice → plays Monopoly map → wins F&amp;B credit / room nights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3657600" cy="2743200"/>
          </a:xfrm>
          <a:prstGeom prst="rect">
            <a:avLst/>
          </a:prstGeom>
          <a:solidFill>
            <a:srgbClr val="FAF8F6"/>
          </a:solidFill>
          <a:ln w="12700">
            <a:solidFill>
              <a:srgbClr val="DAD9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520440"/>
            <a:ext cx="3657600" cy="73152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8404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731520" y="4892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3935"/>
                </a:solidFill>
              </a:rPr>
              <a:t>餐廳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5349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86869"/>
                </a:solidFill>
              </a:rPr>
              <a:t>F&amp;B Outlets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3520440"/>
            <a:ext cx="3657600" cy="2743200"/>
          </a:xfrm>
          <a:prstGeom prst="rect">
            <a:avLst/>
          </a:prstGeom>
          <a:solidFill>
            <a:srgbClr val="FAF8F6"/>
          </a:solidFill>
          <a:ln w="12700">
            <a:solidFill>
              <a:srgbClr val="DAD9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3520440"/>
            <a:ext cx="3657600" cy="73152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38404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NT$2,000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572000" y="4892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3935"/>
                </a:solidFill>
              </a:rPr>
              <a:t>= 1 次擲骰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2000" y="5349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86869"/>
                </a:solidFill>
              </a:rPr>
              <a:t>per dice roll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0" y="3520440"/>
            <a:ext cx="3657600" cy="2743200"/>
          </a:xfrm>
          <a:prstGeom prst="rect">
            <a:avLst/>
          </a:prstGeom>
          <a:solidFill>
            <a:srgbClr val="FAF8F6"/>
          </a:solidFill>
          <a:ln w="12700">
            <a:solidFill>
              <a:srgbClr val="DAD9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3520440"/>
            <a:ext cx="3657600" cy="73152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38404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點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8412480" y="4892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3935"/>
                </a:solidFill>
              </a:rPr>
              <a:t>抽大獎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12480" y="5349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86869"/>
                </a:solidFill>
              </a:rPr>
              <a:t>to grand prize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v2026-05-18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三個角色 · 各做什麼?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200" kern="0" dirty="0">
                <a:solidFill>
                  <a:srgbClr val="686869"/>
                </a:solidFill>
              </a:rPr>
              <a:t>Three Roles · Who Does What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9728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36576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9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3657600" cy="1005840"/>
          </a:xfrm>
          <a:prstGeom prst="rect">
            <a:avLst/>
          </a:prstGeom>
          <a:solidFill>
            <a:srgbClr val="3D393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011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EB4A9"/>
                </a:solidFill>
              </a:rPr>
              <a:t>客人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463040" y="2423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AD9D6"/>
                </a:solidFill>
              </a:rPr>
              <a:t>Customer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3017520"/>
            <a:ext cx="3200400" cy="640080"/>
          </a:xfrm>
          <a:prstGeom prst="rect">
            <a:avLst/>
          </a:prstGeom>
          <a:solidFill>
            <a:srgbClr val="F4ECE7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3935"/>
                </a:solidFill>
              </a:rPr>
              <a:t>全程自助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724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Fully self-service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38862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B4A9"/>
                </a:solidFill>
              </a:rPr>
              <a:t>·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005840" y="3886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935"/>
                </a:solidFill>
              </a:rPr>
              <a:t>加 LINE 好友 + 自動綁餐廳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0584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Add LINE + auto-bind to outlet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" y="46634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B4A9"/>
                </a:solidFill>
              </a:rPr>
              <a:t>·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1005840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935"/>
                </a:solidFill>
              </a:rPr>
              <a:t>結帳後掃發票 / 拍小白單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05840" y="4983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Scan invoice / photograph slip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22960" y="54406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B4A9"/>
                </a:solidFill>
              </a:rPr>
              <a:t>·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005840" y="5440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935"/>
                </a:solidFill>
              </a:rPr>
              <a:t>玩大富翁、抽獎、領獎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05840" y="5760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Roll dice, draw prize, redeem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389120" y="1828800"/>
            <a:ext cx="36576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9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389120" y="1828800"/>
            <a:ext cx="3657600" cy="1005840"/>
          </a:xfrm>
          <a:prstGeom prst="rect">
            <a:avLst/>
          </a:prstGeom>
          <a:solidFill>
            <a:srgbClr val="3D3935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057400"/>
            <a:ext cx="548640" cy="5486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303520" y="2011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EB4A9"/>
                </a:solidFill>
              </a:rPr>
              <a:t>服務人員</a:t>
            </a:r>
            <a:endParaRPr lang="en-US" sz="2200" dirty="0"/>
          </a:p>
        </p:txBody>
      </p:sp>
      <p:sp>
        <p:nvSpPr>
          <p:cNvPr id="26" name="Text 22"/>
          <p:cNvSpPr/>
          <p:nvPr/>
        </p:nvSpPr>
        <p:spPr>
          <a:xfrm>
            <a:off x="5303520" y="2423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AD9D6"/>
                </a:solidFill>
              </a:rPr>
              <a:t>Service Staff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617720" y="3017520"/>
            <a:ext cx="3200400" cy="640080"/>
          </a:xfrm>
          <a:prstGeom prst="rect">
            <a:avLst/>
          </a:prstGeom>
          <a:solidFill>
            <a:srgbClr val="F4ECE7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61772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3935"/>
                </a:solidFill>
              </a:rPr>
              <a:t>90% 不用做事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461772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90% no-op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4663440" y="38862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B4A9"/>
                </a:solidFill>
              </a:rPr>
              <a:t>·</a:t>
            </a:r>
            <a:endParaRPr lang="en-US" sz="2400" dirty="0"/>
          </a:p>
        </p:txBody>
      </p:sp>
      <p:sp>
        <p:nvSpPr>
          <p:cNvPr id="31" name="Text 27"/>
          <p:cNvSpPr/>
          <p:nvPr/>
        </p:nvSpPr>
        <p:spPr>
          <a:xfrm>
            <a:off x="4846320" y="3886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935"/>
                </a:solidFill>
              </a:rPr>
              <a:t>客人問怎麼玩 → 教掃 QR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484632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Explain QR if asked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4663440" y="46634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B4A9"/>
                </a:solidFill>
              </a:rPr>
              <a:t>·</a:t>
            </a:r>
            <a:endParaRPr lang="en-US" sz="2400" dirty="0"/>
          </a:p>
        </p:txBody>
      </p:sp>
      <p:sp>
        <p:nvSpPr>
          <p:cNvPr id="34" name="Text 30"/>
          <p:cNvSpPr/>
          <p:nvPr/>
        </p:nvSpPr>
        <p:spPr>
          <a:xfrm>
            <a:off x="4846320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935"/>
                </a:solidFill>
              </a:rPr>
              <a:t>客人卡關 → 開「結帳 QR」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4846320" y="4983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Issue Checkout QR if stuck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4663440" y="54406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B4A9"/>
                </a:solidFill>
              </a:rPr>
              <a:t>·</a:t>
            </a:r>
            <a:endParaRPr lang="en-US" sz="2400" dirty="0"/>
          </a:p>
        </p:txBody>
      </p:sp>
      <p:sp>
        <p:nvSpPr>
          <p:cNvPr id="37" name="Text 33"/>
          <p:cNvSpPr/>
          <p:nvPr/>
        </p:nvSpPr>
        <p:spPr>
          <a:xfrm>
            <a:off x="4846320" y="5440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935"/>
                </a:solidFill>
              </a:rPr>
              <a:t>客人吵發票 → 用「客訴查詢」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4846320" y="5760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Use Lookup for disputes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8229600" y="1828800"/>
            <a:ext cx="36576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9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8229600" y="1828800"/>
            <a:ext cx="3657600" cy="1005840"/>
          </a:xfrm>
          <a:prstGeom prst="rect">
            <a:avLst/>
          </a:prstGeom>
          <a:solidFill>
            <a:srgbClr val="3D3935"/>
          </a:solidFill>
          <a:ln/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057400"/>
            <a:ext cx="548640" cy="54864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9144000" y="2011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EB4A9"/>
                </a:solidFill>
              </a:rPr>
              <a:t>主管 / IT</a:t>
            </a:r>
            <a:endParaRPr lang="en-US" sz="2200" dirty="0"/>
          </a:p>
        </p:txBody>
      </p:sp>
      <p:sp>
        <p:nvSpPr>
          <p:cNvPr id="43" name="Text 38"/>
          <p:cNvSpPr/>
          <p:nvPr/>
        </p:nvSpPr>
        <p:spPr>
          <a:xfrm>
            <a:off x="9144000" y="2423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AD9D6"/>
                </a:solidFill>
              </a:rPr>
              <a:t>Manager / IT</a:t>
            </a:r>
            <a:endParaRPr lang="en-US" sz="1200" dirty="0"/>
          </a:p>
        </p:txBody>
      </p:sp>
      <p:sp>
        <p:nvSpPr>
          <p:cNvPr id="44" name="Shape 39"/>
          <p:cNvSpPr/>
          <p:nvPr/>
        </p:nvSpPr>
        <p:spPr>
          <a:xfrm>
            <a:off x="8458200" y="3017520"/>
            <a:ext cx="3200400" cy="640080"/>
          </a:xfrm>
          <a:prstGeom prst="rect">
            <a:avLst/>
          </a:prstGeom>
          <a:solidFill>
            <a:srgbClr val="F4ECE7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45820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3935"/>
                </a:solidFill>
              </a:rPr>
              <a:t>後台監控</a:t>
            </a:r>
            <a:endParaRPr lang="en-US" sz="1500" dirty="0"/>
          </a:p>
        </p:txBody>
      </p:sp>
      <p:sp>
        <p:nvSpPr>
          <p:cNvPr id="46" name="Text 41"/>
          <p:cNvSpPr/>
          <p:nvPr/>
        </p:nvSpPr>
        <p:spPr>
          <a:xfrm>
            <a:off x="845820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Backend monitoring</a:t>
            </a:r>
            <a:endParaRPr lang="en-US" sz="1000" dirty="0"/>
          </a:p>
        </p:txBody>
      </p:sp>
      <p:sp>
        <p:nvSpPr>
          <p:cNvPr id="47" name="Text 42"/>
          <p:cNvSpPr/>
          <p:nvPr/>
        </p:nvSpPr>
        <p:spPr>
          <a:xfrm>
            <a:off x="8503920" y="38862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B4A9"/>
                </a:solidFill>
              </a:rPr>
              <a:t>·</a:t>
            </a:r>
            <a:endParaRPr lang="en-US" sz="2400" dirty="0"/>
          </a:p>
        </p:txBody>
      </p:sp>
      <p:sp>
        <p:nvSpPr>
          <p:cNvPr id="48" name="Text 43"/>
          <p:cNvSpPr/>
          <p:nvPr/>
        </p:nvSpPr>
        <p:spPr>
          <a:xfrm>
            <a:off x="8686800" y="3886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935"/>
                </a:solidFill>
              </a:rPr>
              <a:t>查客戶數據,評估行銷效益</a:t>
            </a:r>
            <a:endParaRPr lang="en-US" sz="1300" dirty="0"/>
          </a:p>
        </p:txBody>
      </p:sp>
      <p:sp>
        <p:nvSpPr>
          <p:cNvPr id="49" name="Text 44"/>
          <p:cNvSpPr/>
          <p:nvPr/>
        </p:nvSpPr>
        <p:spPr>
          <a:xfrm>
            <a:off x="868680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Customer analytics dashboard</a:t>
            </a:r>
            <a:endParaRPr lang="en-US" sz="1000" dirty="0"/>
          </a:p>
        </p:txBody>
      </p:sp>
      <p:sp>
        <p:nvSpPr>
          <p:cNvPr id="50" name="Text 45"/>
          <p:cNvSpPr/>
          <p:nvPr/>
        </p:nvSpPr>
        <p:spPr>
          <a:xfrm>
            <a:off x="8503920" y="46634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B4A9"/>
                </a:solidFill>
              </a:rPr>
              <a:t>·</a:t>
            </a:r>
            <a:endParaRPr lang="en-US" sz="2400" dirty="0"/>
          </a:p>
        </p:txBody>
      </p:sp>
      <p:sp>
        <p:nvSpPr>
          <p:cNvPr id="51" name="Text 46"/>
          <p:cNvSpPr/>
          <p:nvPr/>
        </p:nvSpPr>
        <p:spPr>
          <a:xfrm>
            <a:off x="8686800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935"/>
                </a:solidFill>
              </a:rPr>
              <a:t>換 PIN,維護白名單</a:t>
            </a:r>
            <a:endParaRPr lang="en-US" sz="1300" dirty="0"/>
          </a:p>
        </p:txBody>
      </p:sp>
      <p:sp>
        <p:nvSpPr>
          <p:cNvPr id="52" name="Text 47"/>
          <p:cNvSpPr/>
          <p:nvPr/>
        </p:nvSpPr>
        <p:spPr>
          <a:xfrm>
            <a:off x="8686800" y="4983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PIN rotation, whitelist mgmt</a:t>
            </a:r>
            <a:endParaRPr lang="en-US" sz="1000" dirty="0"/>
          </a:p>
        </p:txBody>
      </p:sp>
      <p:sp>
        <p:nvSpPr>
          <p:cNvPr id="53" name="Text 48"/>
          <p:cNvSpPr/>
          <p:nvPr/>
        </p:nvSpPr>
        <p:spPr>
          <a:xfrm>
            <a:off x="8503920" y="54406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B4A9"/>
                </a:solidFill>
              </a:rPr>
              <a:t>·</a:t>
            </a:r>
            <a:endParaRPr lang="en-US" sz="2400" dirty="0"/>
          </a:p>
        </p:txBody>
      </p:sp>
      <p:sp>
        <p:nvSpPr>
          <p:cNvPr id="54" name="Text 49"/>
          <p:cNvSpPr/>
          <p:nvPr/>
        </p:nvSpPr>
        <p:spPr>
          <a:xfrm>
            <a:off x="8686800" y="5440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935"/>
                </a:solidFill>
              </a:rPr>
              <a:t>處理系統異常</a:t>
            </a:r>
            <a:endParaRPr lang="en-US" sz="1300" dirty="0"/>
          </a:p>
        </p:txBody>
      </p:sp>
      <p:sp>
        <p:nvSpPr>
          <p:cNvPr id="55" name="Text 50"/>
          <p:cNvSpPr/>
          <p:nvPr/>
        </p:nvSpPr>
        <p:spPr>
          <a:xfrm>
            <a:off x="8686800" y="5760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Handle system anomalies</a:t>
            </a:r>
            <a:endParaRPr lang="en-US" sz="1000" dirty="0"/>
          </a:p>
        </p:txBody>
      </p:sp>
      <p:sp>
        <p:nvSpPr>
          <p:cNvPr id="56" name="Text 51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16</a:t>
            </a:r>
            <a:endParaRPr lang="en-US" sz="1000" dirty="0"/>
          </a:p>
        </p:txBody>
      </p:sp>
      <p:sp>
        <p:nvSpPr>
          <p:cNvPr id="57" name="Text 5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v2026-05-18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服務人員 · 90% 不用做事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200" kern="0" dirty="0">
                <a:solidFill>
                  <a:srgbClr val="686869"/>
                </a:solidFill>
              </a:rPr>
              <a:t>Service Staff · 90% no-op required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9728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5303520" cy="4526280"/>
          </a:xfrm>
          <a:prstGeom prst="rect">
            <a:avLst/>
          </a:prstGeom>
          <a:solidFill>
            <a:srgbClr val="FAF8F6"/>
          </a:solidFill>
          <a:ln w="12700">
            <a:solidFill>
              <a:srgbClr val="DAD9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109728" cy="4526280"/>
          </a:xfrm>
          <a:prstGeom prst="rect">
            <a:avLst/>
          </a:prstGeom>
          <a:solidFill>
            <a:srgbClr val="3D3935"/>
          </a:solidFill>
          <a:ln w="12700">
            <a:solidFill>
              <a:srgbClr val="3D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3935"/>
                </a:solidFill>
              </a:rPr>
              <a:t>客人自己會做 8 件事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86869"/>
                </a:solidFill>
              </a:rPr>
              <a:t>8 things customers handle alone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935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8803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用 LINE 相機掃餐廳 QR Code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0815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Scan outlet QR via LINE camera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935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2918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加 IC 高雄 LINE 好友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34930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Add IC LINE friend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" y="37033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935"/>
                </a:solidFill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703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自動進入遊戲、自動綁餐廳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9044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Auto-enter game, auto-bind outlet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2960" y="41148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935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1148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選一個卡通角色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43159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Pick a character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" y="45262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935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45262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結帳後掃發票 / 拍小白單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472744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Scan invoice / photo slip after checkout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2960" y="49377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935"/>
                </a:solidFill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7280" y="4937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擲骰子、走大富翁地圖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51389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Roll dice, walk Monopoly map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2960" y="53492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935"/>
                </a:solidFill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7280" y="5349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抽獎、拿固定獎品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55504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Draw lottery, claim fixed reward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22960" y="57607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935"/>
                </a:solidFill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57607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15 點抽到大獎 → 自動下一季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59618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Win grand prize at 15pt → next season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26480" y="1828800"/>
            <a:ext cx="5669280" cy="4526280"/>
          </a:xfrm>
          <a:prstGeom prst="rect">
            <a:avLst/>
          </a:prstGeom>
          <a:solidFill>
            <a:srgbClr val="F4ECE7"/>
          </a:solidFill>
          <a:ln w="19050">
            <a:solidFill>
              <a:srgbClr val="CEB4A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1828800"/>
            <a:ext cx="109728" cy="4526280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19659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3935"/>
                </a:solidFill>
              </a:rPr>
              <a:t>您要介入的 3 種狀況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400800" y="2377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86869"/>
                </a:solidFill>
              </a:rPr>
              <a:t>3 scenarios that require your action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0" y="3017520"/>
            <a:ext cx="502920" cy="502920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040880" y="2971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935"/>
                </a:solidFill>
              </a:rPr>
              <a:t>客人問「怎麼玩?」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040880" y="32644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Customer asks how to play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040880" y="35478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帶到餐廳入口的 QR Code 立牌前,口頭教他用 LINE 相機掃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040880" y="37947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Walk customer to the standee, demo LINE camera scan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00800" y="4114800"/>
            <a:ext cx="502920" cy="502920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040880" y="4069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935"/>
                </a:solidFill>
              </a:rPr>
              <a:t>客人看到「請洽服務人員」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040880" y="43616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Customer shows escalation banner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040880" y="46451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走「結帳 QR」流程補發(下頁詳解)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040880" y="48920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Issue Checkout QR (next slide for details)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400800" y="5212080"/>
            <a:ext cx="502920" cy="502920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7040880" y="5166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935"/>
                </a:solidFill>
              </a:rPr>
              <a:t>客人爭執「我這張沒用過」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040880" y="54589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Customer disputes a 'used' invoice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040880" y="57424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用「客訴查詢」工具看系統紀錄,給客人看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040880" y="59893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Use Lookup tool to show system records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16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v2026-05-18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客人三條兌換路徑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200" kern="0" dirty="0">
                <a:solidFill>
                  <a:srgbClr val="686869"/>
                </a:solidFill>
              </a:rPr>
              <a:t>Three Customer Redemption Paths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9728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36576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9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3657600" cy="1097280"/>
          </a:xfrm>
          <a:prstGeom prst="rect">
            <a:avLst/>
          </a:prstGeom>
          <a:solidFill>
            <a:srgbClr val="3D393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EB4A9"/>
                </a:solidFill>
              </a:rPr>
              <a:t>掃發票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5448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AD9D6"/>
                </a:solidFill>
              </a:rPr>
              <a:t>Scan e-invoice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EB4A9"/>
                </a:solidFill>
              </a:rPr>
              <a:t>適用情境 · WHEN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935"/>
                </a:solidFill>
              </a:rPr>
              <a:t>客人有電子發票證明聯紙本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Customer has a printed e-invoice with QR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7724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EB4A9"/>
                </a:solidFill>
              </a:rPr>
              <a:t>動作 · ACTION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935"/>
                </a:solidFill>
              </a:rPr>
              <a:t>客人對準發票左側 QR 自助掃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" y="4617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Aim at left QR, self-scan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77240" y="5349240"/>
            <a:ext cx="3200400" cy="777240"/>
          </a:xfrm>
          <a:prstGeom prst="rect">
            <a:avLst/>
          </a:prstGeom>
          <a:solidFill>
            <a:srgbClr val="F4ECE7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5349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3D3935"/>
                </a:solidFill>
              </a:rPr>
              <a:t>耗時 · TIME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77240" y="5623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 秒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4389120" y="1828800"/>
            <a:ext cx="36576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9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89120" y="1828800"/>
            <a:ext cx="3657600" cy="1097280"/>
          </a:xfrm>
          <a:prstGeom prst="rect">
            <a:avLst/>
          </a:prstGeom>
          <a:solidFill>
            <a:srgbClr val="3D3935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057400"/>
            <a:ext cx="640080" cy="640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9496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EB4A9"/>
                </a:solidFill>
              </a:rPr>
              <a:t>拍小白單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539496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AD9D6"/>
                </a:solidFill>
              </a:rPr>
              <a:t>Photo of POS slip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61772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EB4A9"/>
                </a:solidFill>
              </a:rPr>
              <a:t>適用情境 · WHEN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61772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935"/>
                </a:solidFill>
              </a:rPr>
              <a:t>客人用載具(沒實體發票)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61772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Carrier customer (no printed invoice)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61772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EB4A9"/>
                </a:solidFill>
              </a:rPr>
              <a:t>動作 · ACTION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61772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935"/>
                </a:solidFill>
              </a:rPr>
              <a:t>客人拍小白單 → AI 自動辨識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4617720" y="4617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Photo of slip → AI vision OCR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617720" y="5349240"/>
            <a:ext cx="3200400" cy="777240"/>
          </a:xfrm>
          <a:prstGeom prst="rect">
            <a:avLst/>
          </a:prstGeom>
          <a:solidFill>
            <a:srgbClr val="F4ECE7"/>
          </a:solidFill>
          <a:ln/>
        </p:spPr>
      </p:sp>
      <p:sp>
        <p:nvSpPr>
          <p:cNvPr id="31" name="Text 27"/>
          <p:cNvSpPr/>
          <p:nvPr/>
        </p:nvSpPr>
        <p:spPr>
          <a:xfrm>
            <a:off x="4617720" y="5349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3D3935"/>
                </a:solidFill>
              </a:rPr>
              <a:t>耗時 · TIME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4617720" y="5623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 秒</a:t>
            </a:r>
            <a:endParaRPr lang="en-US" sz="2200" dirty="0"/>
          </a:p>
        </p:txBody>
      </p:sp>
      <p:sp>
        <p:nvSpPr>
          <p:cNvPr id="33" name="Shape 29"/>
          <p:cNvSpPr/>
          <p:nvPr/>
        </p:nvSpPr>
        <p:spPr>
          <a:xfrm>
            <a:off x="8229600" y="1828800"/>
            <a:ext cx="36576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9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8229600" y="1828800"/>
            <a:ext cx="3657600" cy="1097280"/>
          </a:xfrm>
          <a:prstGeom prst="rect">
            <a:avLst/>
          </a:prstGeom>
          <a:solidFill>
            <a:srgbClr val="3D3935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057400"/>
            <a:ext cx="640080" cy="64008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923544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EB4A9"/>
                </a:solidFill>
              </a:rPr>
              <a:t>結帳 QR</a:t>
            </a:r>
            <a:endParaRPr lang="en-US" sz="2200" dirty="0"/>
          </a:p>
        </p:txBody>
      </p:sp>
      <p:sp>
        <p:nvSpPr>
          <p:cNvPr id="37" name="Text 32"/>
          <p:cNvSpPr/>
          <p:nvPr/>
        </p:nvSpPr>
        <p:spPr>
          <a:xfrm>
            <a:off x="923544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AD9D6"/>
                </a:solidFill>
              </a:rPr>
              <a:t>Checkout QR (staff)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845820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EB4A9"/>
                </a:solidFill>
              </a:rPr>
              <a:t>適用情境 · WHEN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845820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935"/>
                </a:solidFill>
              </a:rPr>
              <a:t>緊急備援 / 上述都失敗</a:t>
            </a:r>
            <a:endParaRPr lang="en-US" sz="1300" dirty="0"/>
          </a:p>
        </p:txBody>
      </p:sp>
      <p:sp>
        <p:nvSpPr>
          <p:cNvPr id="40" name="Text 35"/>
          <p:cNvSpPr/>
          <p:nvPr/>
        </p:nvSpPr>
        <p:spPr>
          <a:xfrm>
            <a:off x="845820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Backup / when above paths fail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845820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EB4A9"/>
                </a:solidFill>
              </a:rPr>
              <a:t>動作 · ACTION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845820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935"/>
                </a:solidFill>
              </a:rPr>
              <a:t>服務人員開 QR → 客人用 LINE 掃</a:t>
            </a:r>
            <a:endParaRPr lang="en-US" sz="1300" dirty="0"/>
          </a:p>
        </p:txBody>
      </p:sp>
      <p:sp>
        <p:nvSpPr>
          <p:cNvPr id="43" name="Text 38"/>
          <p:cNvSpPr/>
          <p:nvPr/>
        </p:nvSpPr>
        <p:spPr>
          <a:xfrm>
            <a:off x="8458200" y="4617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Staff issues QR → customer scans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458200" y="5349240"/>
            <a:ext cx="3200400" cy="777240"/>
          </a:xfrm>
          <a:prstGeom prst="rect">
            <a:avLst/>
          </a:prstGeom>
          <a:solidFill>
            <a:srgbClr val="F4ECE7"/>
          </a:solidFill>
          <a:ln/>
        </p:spPr>
      </p:sp>
      <p:sp>
        <p:nvSpPr>
          <p:cNvPr id="45" name="Text 40"/>
          <p:cNvSpPr/>
          <p:nvPr/>
        </p:nvSpPr>
        <p:spPr>
          <a:xfrm>
            <a:off x="8458200" y="5349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3D3935"/>
                </a:solidFill>
              </a:rPr>
              <a:t>耗時 · TIME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8458200" y="5623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 秒</a:t>
            </a:r>
            <a:endParaRPr lang="en-US" sz="2200" dirty="0"/>
          </a:p>
        </p:txBody>
      </p:sp>
      <p:sp>
        <p:nvSpPr>
          <p:cNvPr id="47" name="Text 42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16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v2026-05-18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結帳 QR · 6 步驟 SOP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200" kern="0" dirty="0">
                <a:solidFill>
                  <a:srgbClr val="686869"/>
                </a:solidFill>
              </a:rPr>
              <a:t>Checkout QR · 6-Step Workflow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9728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6869"/>
                </a:solidFill>
              </a:rPr>
              <a:t>您最常用的工具 — 練到 30 秒內完成 / Your most-used tool — practice to under 30 seconds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7830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28700" y="2148840"/>
            <a:ext cx="640080" cy="640080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8" name="Text 6"/>
          <p:cNvSpPr/>
          <p:nvPr/>
        </p:nvSpPr>
        <p:spPr>
          <a:xfrm>
            <a:off x="10287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3935"/>
                </a:solidFill>
              </a:rPr>
              <a:t>開連結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Open URL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6576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/admin/checkout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935"/>
                </a:solidFill>
              </a:rPr>
              <a:t>建議存桌面 / LINE Keep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86869"/>
                </a:solidFill>
              </a:rPr>
              <a:t>Save to home screen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350008" y="2011680"/>
            <a:ext cx="17830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21508" y="2148840"/>
            <a:ext cx="640080" cy="640080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16" name="Text 14"/>
          <p:cNvSpPr/>
          <p:nvPr/>
        </p:nvSpPr>
        <p:spPr>
          <a:xfrm>
            <a:off x="2921508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441448" y="2926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3935"/>
                </a:solidFill>
              </a:rPr>
              <a:t>輸入 PIN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41448" y="3246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Enter PIN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95728" y="36576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91097496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41448" y="4572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935"/>
                </a:solidFill>
              </a:rPr>
              <a:t>主管口頭告知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41448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86869"/>
                </a:solidFill>
              </a:rPr>
              <a:t>Given by manager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242816" y="2011680"/>
            <a:ext cx="17830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14316" y="2148840"/>
            <a:ext cx="640080" cy="640080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24" name="Text 22"/>
          <p:cNvSpPr/>
          <p:nvPr/>
        </p:nvSpPr>
        <p:spPr>
          <a:xfrm>
            <a:off x="4814316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334256" y="2926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3935"/>
                </a:solidFill>
              </a:rPr>
              <a:t>輸發票編號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334256" y="3246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Invoice no.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88536" y="36576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BM-XXXXXXXX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34256" y="4572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935"/>
                </a:solidFill>
              </a:rPr>
              <a:t>小白單抄,必填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34256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86869"/>
                </a:solidFill>
              </a:rPr>
              <a:t>Required (anti-dup)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35624" y="2011680"/>
            <a:ext cx="17830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07124" y="2148840"/>
            <a:ext cx="640080" cy="640080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32" name="Text 30"/>
          <p:cNvSpPr/>
          <p:nvPr/>
        </p:nvSpPr>
        <p:spPr>
          <a:xfrm>
            <a:off x="6707124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227064" y="2926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3935"/>
                </a:solidFill>
              </a:rPr>
              <a:t>輸入金額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27064" y="3246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Amount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81344" y="36576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如 5000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27064" y="4572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935"/>
                </a:solidFill>
              </a:rPr>
              <a:t>系統自動算擲骰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27064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86869"/>
                </a:solidFill>
              </a:rPr>
              <a:t>Auto-calc dice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028432" y="2011680"/>
            <a:ext cx="17830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599932" y="2148840"/>
            <a:ext cx="640080" cy="640080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40" name="Text 38"/>
          <p:cNvSpPr/>
          <p:nvPr/>
        </p:nvSpPr>
        <p:spPr>
          <a:xfrm>
            <a:off x="8599932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8119872" y="2926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3935"/>
                </a:solidFill>
              </a:rPr>
              <a:t>出 QR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119872" y="3246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Generate QR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074152" y="36576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倒數 2:00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119872" y="4572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935"/>
                </a:solidFill>
              </a:rPr>
              <a:t>過期重新產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119872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86869"/>
                </a:solidFill>
              </a:rPr>
              <a:t>Regenerate if expired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9921240" y="2011680"/>
            <a:ext cx="17830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0492740" y="2148840"/>
            <a:ext cx="640080" cy="640080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48" name="Text 46"/>
          <p:cNvSpPr/>
          <p:nvPr/>
        </p:nvSpPr>
        <p:spPr>
          <a:xfrm>
            <a:off x="104927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10012680" y="2926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3935"/>
                </a:solidFill>
              </a:rPr>
              <a:t>客人掃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0012680" y="3246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Customer scans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966960" y="36576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相機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012680" y="4572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935"/>
                </a:solidFill>
              </a:rPr>
              <a:t>兌換完成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01268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86869"/>
                </a:solidFill>
              </a:rPr>
              <a:t>Done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57200" y="5669280"/>
            <a:ext cx="11247120" cy="594360"/>
          </a:xfrm>
          <a:prstGeom prst="rect">
            <a:avLst/>
          </a:prstGeom>
          <a:solidFill>
            <a:srgbClr val="F4ECE7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" y="57150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935"/>
                </a:solidFill>
              </a:rPr>
              <a:t>規則 / Rules: </a:t>
            </a:r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NT$2,000 = 1 擲骰 · 上限 5 · QR 2分鐘失效 · </a:t>
            </a:r>
            <a:pPr indent="0" marL="0">
              <a:buNone/>
            </a:pPr>
            <a:r>
              <a:rPr lang="en-US" sz="1200" b="1" dirty="0">
                <a:solidFill>
                  <a:srgbClr val="3D3935"/>
                </a:solidFill>
              </a:rPr>
              <a:t>發票編號必填(防雙領)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Required: invoice_no prevents same invoice being redeemed twice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16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v2026-05-18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客訴查詢工具 · /admin/lookup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200" kern="0" dirty="0">
                <a:solidFill>
                  <a:srgbClr val="686869"/>
                </a:solidFill>
              </a:rPr>
              <a:t>Customer Dispute Lookup Tool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9728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客人吵「我這張沒用過!」→ 用系統紀錄說話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6869"/>
                </a:solidFill>
              </a:rPr>
              <a:t>'I didn't use this invoice!' → Show system records, don't argue verbally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1064240" cy="640080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317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EB4A9"/>
                </a:solidFill>
              </a:rPr>
              <a:t>1.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開 /admin/lookup    </a:t>
            </a:r>
            <a:pPr indent="0" marL="0">
              <a:buNone/>
            </a:pPr>
            <a:r>
              <a:rPr lang="en-US" sz="1600" b="1" dirty="0">
                <a:solidFill>
                  <a:srgbClr val="CEB4A9"/>
                </a:solidFill>
              </a:rPr>
              <a:t>2.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輸 PIN 91097496    </a:t>
            </a:r>
            <a:pPr indent="0" marL="0">
              <a:buNone/>
            </a:pPr>
            <a:r>
              <a:rPr lang="en-US" sz="1600" b="1" dirty="0">
                <a:solidFill>
                  <a:srgbClr val="CEB4A9"/>
                </a:solidFill>
              </a:rPr>
              <a:t>3.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輸發票編號 → 查詢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3657600" cy="3200400"/>
          </a:xfrm>
          <a:prstGeom prst="rect">
            <a:avLst/>
          </a:prstGeom>
          <a:solidFill>
            <a:srgbClr val="ECFDF5"/>
          </a:solidFill>
          <a:ln w="254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33832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F46"/>
                </a:solidFill>
              </a:rPr>
              <a:t>✓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46304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F46"/>
                </a:solidFill>
              </a:rPr>
              <a:t>未使用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749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F46"/>
                </a:solidFill>
              </a:rPr>
              <a:t>Not used yet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2976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客人沒說謊,引導他自助掃發票或開結帳 QR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5623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Customer is honest. Guide self-redeem or issue Checkout QR.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3246120"/>
            <a:ext cx="3657600" cy="3200400"/>
          </a:xfrm>
          <a:prstGeom prst="rect">
            <a:avLst/>
          </a:prstGeom>
          <a:solidFill>
            <a:srgbClr val="FEF2F2"/>
          </a:solidFill>
          <a:ln w="25400">
            <a:solidFill>
              <a:srgbClr val="991B1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26280" y="33832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91B1B"/>
                </a:solidFill>
              </a:rPr>
              <a:t>✗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30352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1B1B"/>
                </a:solidFill>
              </a:rPr>
              <a:t>已被使用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03520" y="3749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1B1B"/>
                </a:solidFill>
              </a:rPr>
              <a:t>Already used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42976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畫面顯示時間 / 使用者 / 桌號 / 金額 — 給客人看,系統紀錄不可竄改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720" y="5623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Screen shows when / who / table / amount. Show customer — records are immutable.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0" y="3246120"/>
            <a:ext cx="3657600" cy="3200400"/>
          </a:xfrm>
          <a:prstGeom prst="rect">
            <a:avLst/>
          </a:prstGeom>
          <a:solidFill>
            <a:srgbClr val="FEF3C7"/>
          </a:solidFill>
          <a:ln w="254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66760" y="33832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45309"/>
                </a:solidFill>
              </a:rPr>
              <a:t>⏱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14400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</a:rPr>
              <a:t>已開 QR 但未掃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0" y="3749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5309"/>
                </a:solidFill>
              </a:rPr>
              <a:t>Pending QR (not yet scanned)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58200" y="42976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2 分鐘內剛開過 QR 但客人沒掃 — 請客人立刻掃或等過期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58200" y="5623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QR issued in last 2 min but unused. Ask customer to scan now or wait.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v2026-05-18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客人手機錯誤訊息 · 對照處理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200" kern="0" dirty="0">
                <a:solidFill>
                  <a:srgbClr val="686869"/>
                </a:solidFill>
              </a:rPr>
              <a:t>Error Message Decoder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9728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6869"/>
                </a:solidFill>
              </a:rPr>
              <a:t>客人指著螢幕說「掃不過」時,對照下表 / When customer points at error message, look up below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11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EB4A9"/>
                </a:solidFill>
              </a:rPr>
              <a:t>客人看到 · Error message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2011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AD9D6"/>
                </a:solidFill>
              </a:rPr>
              <a:t>EN translation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EB4A9"/>
                </a:solidFill>
              </a:rPr>
              <a:t>您怎麼做 · Your action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11064240" cy="384048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688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935"/>
                </a:solidFill>
              </a:rPr>
              <a:t>請先綁定桌號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4688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86869"/>
                </a:solidFill>
              </a:rPr>
              <a:t>Bind a table first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55280" y="24688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935"/>
                </a:solidFill>
              </a:rPr>
              <a:t>走 餐廳 QR 流程 / Use restaurant QR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852928"/>
            <a:ext cx="110642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8529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935"/>
                </a:solidFill>
              </a:rPr>
              <a:t>不是電子發票格式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0" y="28529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86869"/>
                </a:solidFill>
              </a:rPr>
              <a:t>Not an e-invoice QR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955280" y="28529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935"/>
                </a:solidFill>
              </a:rPr>
              <a:t>對準發票左側 QR / Aim at left side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236976"/>
            <a:ext cx="11064240" cy="384048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2369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935"/>
                </a:solidFill>
              </a:rPr>
              <a:t>不是 IC 開的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0" y="32369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86869"/>
                </a:solidFill>
              </a:rPr>
              <a:t>Not from IC Kaohsiung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955280" y="323697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935"/>
                </a:solidFill>
              </a:rPr>
              <a:t>別家發票,無法兌換 / Other vendor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621024"/>
            <a:ext cx="110642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6210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935"/>
                </a:solidFill>
              </a:rPr>
              <a:t>發票日期過期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0" y="362102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86869"/>
                </a:solidFill>
              </a:rPr>
              <a:t>Invoice date expired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55280" y="36210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935"/>
                </a:solidFill>
              </a:rPr>
              <a:t>走 結帳 QR / Issue Checkout QR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005072"/>
            <a:ext cx="11064240" cy="384048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0050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935"/>
                </a:solidFill>
              </a:rPr>
              <a:t>此發票已被使用過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0" y="40050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86869"/>
                </a:solidFill>
              </a:rPr>
              <a:t>Already used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55280" y="40050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935"/>
                </a:solidFill>
              </a:rPr>
              <a:t>走 客訴查詢 確認 / Use Lookup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389120"/>
            <a:ext cx="110642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389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935"/>
                </a:solidFill>
              </a:rPr>
              <a:t>這一桌已兌換過一張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0" y="43891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86869"/>
                </a:solidFill>
              </a:rPr>
              <a:t>One per binding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955280" y="43891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935"/>
                </a:solidFill>
              </a:rPr>
              <a:t>走 客訴查詢 / 用結帳 QR / Lookup or Checkout QR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773168"/>
            <a:ext cx="11064240" cy="384048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47731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935"/>
                </a:solidFill>
              </a:rPr>
              <a:t>金額需滿 NT$2,000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0" y="47731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86869"/>
                </a:solidFill>
              </a:rPr>
              <a:t>Below 2k threshold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955280" y="47731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935"/>
                </a:solidFill>
              </a:rPr>
              <a:t>告知無法參加 / Inform: below threshold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5157216"/>
            <a:ext cx="110642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51572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935"/>
                </a:solidFill>
              </a:rPr>
              <a:t>圖片不夠清楚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0" y="515721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86869"/>
                </a:solidFill>
              </a:rPr>
              <a:t>Photo unclear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955280" y="51572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935"/>
                </a:solidFill>
              </a:rPr>
              <a:t>重拍 / 用結帳 QR / Retake or Checkout QR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5541264"/>
            <a:ext cx="11064240" cy="384048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55412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935"/>
                </a:solidFill>
              </a:rPr>
              <a:t>不像 IC 的單據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572000" y="55412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86869"/>
                </a:solidFill>
              </a:rPr>
              <a:t>Not an IC slip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955280" y="55412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935"/>
                </a:solidFill>
              </a:rPr>
              <a:t>確認單據完整 / 結帳 QR / Verify slip / Checkout QR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5925312"/>
            <a:ext cx="110642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" y="59253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935"/>
                </a:solidFill>
              </a:rPr>
              <a:t>黃色 請洽服務人員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572000" y="59253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86869"/>
                </a:solidFill>
              </a:rPr>
              <a:t>Yellow staff banner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955280" y="59253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935"/>
                </a:solidFill>
              </a:rPr>
              <a:t>直接 走 結帳 QR / Issue Checkout QR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48640" y="6400800"/>
            <a:ext cx="11064240" cy="45720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D3935"/>
                </a:solidFill>
              </a:rPr>
              <a:t>結論 · Bottom line:  幾乎所有狀況的最終答案 = 走「結帳 QR」流程補發 / Almost every case ends with: Issue Checkout QR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16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v2026-05-18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反作弊四道鎖 · 系統自動運作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200" kern="0" dirty="0">
                <a:solidFill>
                  <a:srgbClr val="686869"/>
                </a:solidFill>
              </a:rPr>
              <a:t>Anti-Fraud · Four Locks · Automatic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9728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6869"/>
                </a:solidFill>
              </a:rPr>
              <a:t>您不用記,但理解 = 跟客人解釋時更有底氣 / You don't need to memorize, but understanding helps when explaining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864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EB4A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57400"/>
            <a:ext cx="128016" cy="2011680"/>
          </a:xfrm>
          <a:prstGeom prst="rect">
            <a:avLst/>
          </a:prstGeom>
          <a:solidFill>
            <a:srgbClr val="3D3935"/>
          </a:solidFill>
          <a:ln w="12700">
            <a:solidFill>
              <a:srgbClr val="3D39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860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240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EB4A9"/>
                </a:solidFill>
              </a:rPr>
              <a:t>LOCK 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508760" y="2514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3935"/>
                </a:solidFill>
              </a:rPr>
              <a:t>賣方統編 = 91097496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508760" y="2880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6869"/>
                </a:solidFill>
              </a:rPr>
              <a:t>Seller VAT must = 91097496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14400" y="3383280"/>
            <a:ext cx="4937760" cy="594360"/>
          </a:xfrm>
          <a:prstGeom prst="rect">
            <a:avLst/>
          </a:prstGeom>
          <a:solidFill>
            <a:srgbClr val="F4ECE7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34290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935"/>
                </a:solidFill>
              </a:rPr>
              <a:t>為什麼: </a:t>
            </a:r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防別家(7-11、星巴克)發票</a:t>
            </a:r>
            <a:endParaRPr lang="en-US" sz="1000" dirty="0"/>
          </a:p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Blocks other vendors' invoices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17920" y="2057400"/>
            <a:ext cx="54864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EB4A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2057400"/>
            <a:ext cx="128016" cy="2011680"/>
          </a:xfrm>
          <a:prstGeom prst="rect">
            <a:avLst/>
          </a:prstGeom>
          <a:solidFill>
            <a:srgbClr val="3D3935"/>
          </a:solidFill>
          <a:ln w="12700">
            <a:solidFill>
              <a:srgbClr val="3D3935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28600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78040" y="2240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EB4A9"/>
                </a:solidFill>
              </a:rPr>
              <a:t>LOCK 2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178040" y="2514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3935"/>
                </a:solidFill>
              </a:rPr>
              <a:t>日期必須是今天或昨天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7178040" y="2880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6869"/>
                </a:solidFill>
              </a:rPr>
              <a:t>Date must be today / yesterday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583680" y="3383280"/>
            <a:ext cx="4937760" cy="594360"/>
          </a:xfrm>
          <a:prstGeom prst="rect">
            <a:avLst/>
          </a:prstGeom>
          <a:solidFill>
            <a:srgbClr val="F4ECE7"/>
          </a:solidFill>
          <a:ln/>
        </p:spPr>
      </p:sp>
      <p:sp>
        <p:nvSpPr>
          <p:cNvPr id="21" name="Text 17"/>
          <p:cNvSpPr/>
          <p:nvPr/>
        </p:nvSpPr>
        <p:spPr>
          <a:xfrm>
            <a:off x="6720840" y="34290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935"/>
                </a:solidFill>
              </a:rPr>
              <a:t>為什麼: </a:t>
            </a:r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防客人翻出舊發票 replay</a:t>
            </a:r>
            <a:endParaRPr lang="en-US" sz="1000" dirty="0"/>
          </a:p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Prevents replay of old invoices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48640" y="4251960"/>
            <a:ext cx="54864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EB4A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48640" y="4251960"/>
            <a:ext cx="128016" cy="2011680"/>
          </a:xfrm>
          <a:prstGeom prst="rect">
            <a:avLst/>
          </a:prstGeom>
          <a:solidFill>
            <a:srgbClr val="3D3935"/>
          </a:solidFill>
          <a:ln w="12700">
            <a:solidFill>
              <a:srgbClr val="3D3935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48056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508760" y="4434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EB4A9"/>
                </a:solidFill>
              </a:rPr>
              <a:t>LOCK 3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1508760" y="4709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3935"/>
                </a:solidFill>
              </a:rPr>
              <a:t>同一桌 20 分鐘限一張</a:t>
            </a:r>
            <a:endParaRPr lang="en-US" sz="1700" dirty="0"/>
          </a:p>
        </p:txBody>
      </p:sp>
      <p:sp>
        <p:nvSpPr>
          <p:cNvPr id="27" name="Text 22"/>
          <p:cNvSpPr/>
          <p:nvPr/>
        </p:nvSpPr>
        <p:spPr>
          <a:xfrm>
            <a:off x="1508760" y="5074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6869"/>
                </a:solidFill>
              </a:rPr>
              <a:t>1 invoice / table / 20 min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914400" y="5577840"/>
            <a:ext cx="4937760" cy="594360"/>
          </a:xfrm>
          <a:prstGeom prst="rect">
            <a:avLst/>
          </a:prstGeom>
          <a:solidFill>
            <a:srgbClr val="F4ECE7"/>
          </a:solidFill>
          <a:ln/>
        </p:spPr>
      </p:sp>
      <p:sp>
        <p:nvSpPr>
          <p:cNvPr id="29" name="Text 24"/>
          <p:cNvSpPr/>
          <p:nvPr/>
        </p:nvSpPr>
        <p:spPr>
          <a:xfrm>
            <a:off x="1051560" y="5623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935"/>
                </a:solidFill>
              </a:rPr>
              <a:t>為什麼: </a:t>
            </a:r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防同人雙領(發票+小白單 同筆消費)</a:t>
            </a:r>
            <a:endParaRPr lang="en-US" sz="1000" dirty="0"/>
          </a:p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Prevents same-meal double-claim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217920" y="4251960"/>
            <a:ext cx="54864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EB4A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217920" y="4251960"/>
            <a:ext cx="128016" cy="2011680"/>
          </a:xfrm>
          <a:prstGeom prst="rect">
            <a:avLst/>
          </a:prstGeom>
          <a:solidFill>
            <a:srgbClr val="3D3935"/>
          </a:solidFill>
          <a:ln w="12700">
            <a:solidFill>
              <a:srgbClr val="3D3935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480560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178040" y="4434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EB4A9"/>
                </a:solidFill>
              </a:rPr>
              <a:t>LOCK 4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7178040" y="4709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3935"/>
                </a:solidFill>
              </a:rPr>
              <a:t>同張發票全世界唯一</a:t>
            </a:r>
            <a:endParaRPr lang="en-US" sz="1700" dirty="0"/>
          </a:p>
        </p:txBody>
      </p:sp>
      <p:sp>
        <p:nvSpPr>
          <p:cNvPr id="35" name="Text 29"/>
          <p:cNvSpPr/>
          <p:nvPr/>
        </p:nvSpPr>
        <p:spPr>
          <a:xfrm>
            <a:off x="7178040" y="5074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6869"/>
                </a:solidFill>
              </a:rPr>
              <a:t>invoice_no globally unique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6583680" y="5577840"/>
            <a:ext cx="4937760" cy="594360"/>
          </a:xfrm>
          <a:prstGeom prst="rect">
            <a:avLst/>
          </a:prstGeom>
          <a:solidFill>
            <a:srgbClr val="F4ECE7"/>
          </a:solidFill>
          <a:ln/>
        </p:spPr>
      </p:sp>
      <p:sp>
        <p:nvSpPr>
          <p:cNvPr id="37" name="Text 31"/>
          <p:cNvSpPr/>
          <p:nvPr/>
        </p:nvSpPr>
        <p:spPr>
          <a:xfrm>
            <a:off x="6720840" y="5623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935"/>
                </a:solidFill>
              </a:rPr>
              <a:t>為什麼: </a:t>
            </a:r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invoice_no 是資料庫 PRIMARY KEY</a:t>
            </a:r>
            <a:endParaRPr lang="en-US" sz="1000" dirty="0"/>
          </a:p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invoice_no is the database PK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16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v2026-05-18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絕對不要做的事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200" kern="0" dirty="0">
                <a:solidFill>
                  <a:srgbClr val="686869"/>
                </a:solidFill>
              </a:rPr>
              <a:t>Five Hard Prohibitions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9728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6869"/>
                </a:solidFill>
              </a:rPr>
              <a:t>這些事情會破壞系統設計或讓客人資料外洩 / These actions break the system or leak customer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64240" cy="777240"/>
          </a:xfrm>
          <a:prstGeom prst="rect">
            <a:avLst/>
          </a:prstGeom>
          <a:solidFill>
            <a:srgbClr val="FAF8F6"/>
          </a:solidFill>
          <a:ln w="12700">
            <a:solidFill>
              <a:srgbClr val="3D393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2199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13055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935"/>
                </a:solidFill>
              </a:rPr>
              <a:t>PIN 寫在牆上紙條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24963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Write the PIN on a wall note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949440" y="21762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→ 客人可能偷看,口頭傳達就好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132320" y="24963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Customers could see it. Verbal only.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48640" y="2926080"/>
            <a:ext cx="11064240" cy="777240"/>
          </a:xfrm>
          <a:prstGeom prst="rect">
            <a:avLst/>
          </a:prstGeom>
          <a:solidFill>
            <a:srgbClr val="FAF8F6"/>
          </a:solidFill>
          <a:ln w="12700">
            <a:solidFill>
              <a:srgbClr val="3D3935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9067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99923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935"/>
                </a:solidFill>
              </a:rPr>
              <a:t>QR 截圖傳給多個客人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417320" y="33649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Share Checkout QR screenshot with multiple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949440" y="30449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→ 只第一個掃的人拿得到,其他人會看「已使用」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132320" y="33649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Only the first scanner gets it; others see 'used'.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48640" y="3794760"/>
            <a:ext cx="11064240" cy="777240"/>
          </a:xfrm>
          <a:prstGeom prst="rect">
            <a:avLst/>
          </a:prstGeom>
          <a:solidFill>
            <a:srgbClr val="FAF8F6"/>
          </a:solidFill>
          <a:ln w="12700">
            <a:solidFill>
              <a:srgbClr val="3D3935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59352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3867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935"/>
                </a:solidFill>
              </a:rPr>
              <a:t>為了討好客人破壞規則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417320" y="42336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Bend rules to please a customer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949440" y="3913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→ 同桌一張、同編號全域唯一是反作弊設計,主動破壞會被審計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132320" y="42336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Anti-fraud rules are audited. Don't override.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48640" y="4663440"/>
            <a:ext cx="11064240" cy="777240"/>
          </a:xfrm>
          <a:prstGeom prst="rect">
            <a:avLst/>
          </a:prstGeom>
          <a:solidFill>
            <a:srgbClr val="FAF8F6"/>
          </a:solidFill>
          <a:ln w="12700">
            <a:solidFill>
              <a:srgbClr val="3D3935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28032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17320" y="47365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935"/>
                </a:solidFill>
              </a:rPr>
              <a:t>替客人輸 LINE 帳號密碼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1417320" y="51023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Type customer's LINE credentials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949440" y="47823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→ 個資不該由您經手,客人自己掃就好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7132320" y="51023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Privacy: customer handles their own LINE login.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548640" y="5532120"/>
            <a:ext cx="11064240" cy="777240"/>
          </a:xfrm>
          <a:prstGeom prst="rect">
            <a:avLst/>
          </a:prstGeom>
          <a:solidFill>
            <a:srgbClr val="FAF8F6"/>
          </a:solidFill>
          <a:ln w="12700">
            <a:solidFill>
              <a:srgbClr val="3D3935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696712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17320" y="560527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935"/>
                </a:solidFill>
              </a:rPr>
              <a:t>輕信「朋友剛剛幫我領了」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1417320" y="59710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Trust 'My friend just redeemed for me'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6949440" y="56509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→ 用客訴查詢工具驗證,不要憑感覺放行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7132320" y="59710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Always verify via Lookup tool before granting.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16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v2026-05-18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554480"/>
          </a:xfrm>
          <a:prstGeom prst="rect">
            <a:avLst/>
          </a:prstGeom>
          <a:solidFill>
            <a:srgbClr val="3D39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湛露中餐廳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691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AD9D6"/>
                </a:solidFill>
              </a:rPr>
              <a:t>Zhan Lu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69164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AD9D6"/>
                </a:solidFill>
              </a:rPr>
              <a:t>粵式經典 · 二樓  ·  Cantonese fine dining · 2nd floor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515600" y="457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#ZL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0515600" y="1051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200" kern="0" dirty="0">
                <a:solidFill>
                  <a:srgbClr val="DAD9D6"/>
                </a:solidFill>
              </a:rPr>
              <a:t>Outlet code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6858000" cy="4572000"/>
          </a:xfrm>
          <a:prstGeom prst="rect">
            <a:avLst/>
          </a:prstGeom>
          <a:solidFill>
            <a:srgbClr val="FAF8F6"/>
          </a:solidFill>
          <a:ln w="12700">
            <a:solidFill>
              <a:srgbClr val="DAD9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011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位址 · Address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234440" y="2286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高雄市前鎮區新光路 33 號 2F  ·  No. 33 Xinguang Rd, 2F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889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2788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電話 · Phone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234440" y="3063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+886-7-3391888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6616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3566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客單常見值 · Typical ticket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234440" y="3840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客單高(NT$3,000–15,000),IHG 會員多用 85 折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234440" y="4160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High ticket size NT$3-15k, IHG 85% discount common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777240" y="4572000"/>
            <a:ext cx="64008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7724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本店重點 · Outlet notes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777240" y="49834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3935"/>
                </a:solidFill>
              </a:rPr>
              <a:t>·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960120" y="49834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多客人會用「載具 + 統編」報帳 → 拍小白單路徑常用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60120" y="523036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Many use carrier + tax ID → photograph slip is common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777240" y="5486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3935"/>
                </a:solidFill>
              </a:rPr>
              <a:t>·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960120" y="548640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餐券抵用情境多 — 以發票「總計」為準,不扣餐券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60120" y="573328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Often use F&amp;B vouchers — count 總計 incl. voucher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777240" y="5989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3935"/>
                </a:solidFill>
              </a:rPr>
              <a:t>·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960120" y="598932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結帳容易花 5+ 分鐘 → 客人可能先離開,事後在大廳掃發票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960120" y="623620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Long checkout → invoice may be scanned in lobby later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7589520" y="1828800"/>
            <a:ext cx="402336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7589520" y="1828800"/>
            <a:ext cx="4023360" cy="411480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33" name="Text 27"/>
          <p:cNvSpPr/>
          <p:nvPr/>
        </p:nvSpPr>
        <p:spPr>
          <a:xfrm>
            <a:off x="7589520" y="1828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專屬 QR Code · Outlet QR</a:t>
            </a:r>
            <a:endParaRPr lang="en-US" sz="11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377440"/>
            <a:ext cx="3657600" cy="329184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7772400" y="5760720"/>
            <a:ext cx="36576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7772400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EB4A9"/>
                </a:solidFill>
              </a:rPr>
              <a:t>立牌位置建議 · Standee placement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7772400" y="6080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935"/>
                </a:solidFill>
              </a:rPr>
              <a:t>入口 + 各桌 + 收銀台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Entrance + tables + cashier counter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16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v2026-05-18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554480"/>
          </a:xfrm>
          <a:prstGeom prst="rect">
            <a:avLst/>
          </a:prstGeom>
          <a:solidFill>
            <a:srgbClr val="3D39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WA-RA 日式餐廳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691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AD9D6"/>
                </a:solidFill>
              </a:rPr>
              <a:t>WA-RA Japanese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69164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AD9D6"/>
                </a:solidFill>
              </a:rPr>
              <a:t>日式割烹 · 二樓  ·  Japanese kappo · 2nd floor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515600" y="457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#WR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0515600" y="1051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200" kern="0" dirty="0">
                <a:solidFill>
                  <a:srgbClr val="DAD9D6"/>
                </a:solidFill>
              </a:rPr>
              <a:t>Outlet code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6858000" cy="4572000"/>
          </a:xfrm>
          <a:prstGeom prst="rect">
            <a:avLst/>
          </a:prstGeom>
          <a:solidFill>
            <a:srgbClr val="FAF8F6"/>
          </a:solidFill>
          <a:ln w="12700">
            <a:solidFill>
              <a:srgbClr val="DAD9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011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位址 · Address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234440" y="2286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高雄市前鎮區新光路 33 號 2F  ·  No. 33 Xinguang Rd, 2F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889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2788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電話 · Phone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234440" y="3063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+886-7-3391888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6616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3566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客單常見值 · Typical ticket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234440" y="3840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客單 NT$2,000–8,000,套餐居多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234440" y="4160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Ticket NT$2-8k, set menus dominate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777240" y="4572000"/>
            <a:ext cx="64008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7724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本店重點 · Outlet notes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777240" y="49834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3935"/>
                </a:solidFill>
              </a:rPr>
              <a:t>·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960120" y="49834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客人多為商務 / 親子,介意流程順暢 → 引導用結帳 QR 最快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60120" y="523036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Business / family customers — Checkout QR is fastest path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777240" y="5486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3935"/>
                </a:solidFill>
              </a:rPr>
              <a:t>·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960120" y="548640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高比例會員客 → 「85 折」常見,影響總計但不影響擲骰計算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60120" y="573328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High loyalty member ratio — discounts apply but dice math unchanged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777240" y="5989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3935"/>
                </a:solidFill>
              </a:rPr>
              <a:t>·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960120" y="598932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建議放兩張立牌:大門 + 收銀台旁邊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960120" y="623620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Place 2 QR standees: entrance + cashier counter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7589520" y="1828800"/>
            <a:ext cx="402336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7589520" y="1828800"/>
            <a:ext cx="4023360" cy="411480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33" name="Text 27"/>
          <p:cNvSpPr/>
          <p:nvPr/>
        </p:nvSpPr>
        <p:spPr>
          <a:xfrm>
            <a:off x="7589520" y="1828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專屬 QR Code · Outlet QR</a:t>
            </a:r>
            <a:endParaRPr lang="en-US" sz="11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377440"/>
            <a:ext cx="3657600" cy="329184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7772400" y="5760720"/>
            <a:ext cx="36576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7772400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EB4A9"/>
                </a:solidFill>
              </a:rPr>
              <a:t>立牌位置建議 · Standee placement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7772400" y="6080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935"/>
                </a:solidFill>
              </a:rPr>
              <a:t>入口 + 各桌 + 收銀台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Entrance + tables + cashier counter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16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v2026-05-18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554480"/>
          </a:xfrm>
          <a:prstGeom prst="rect">
            <a:avLst/>
          </a:prstGeom>
          <a:solidFill>
            <a:srgbClr val="3D39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SEEDS 大地全日餐廳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691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AD9D6"/>
                </a:solidFill>
              </a:rPr>
              <a:t>SEEDS All-Day Dining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69164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AD9D6"/>
                </a:solidFill>
              </a:rPr>
              <a:t>全日 buffet · 一樓  ·  All-day buffet · 1st floor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515600" y="457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#SD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0515600" y="1051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200" kern="0" dirty="0">
                <a:solidFill>
                  <a:srgbClr val="DAD9D6"/>
                </a:solidFill>
              </a:rPr>
              <a:t>Outlet code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6858000" cy="4572000"/>
          </a:xfrm>
          <a:prstGeom prst="rect">
            <a:avLst/>
          </a:prstGeom>
          <a:solidFill>
            <a:srgbClr val="FAF8F6"/>
          </a:solidFill>
          <a:ln w="12700">
            <a:solidFill>
              <a:srgbClr val="DAD9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011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位址 · Address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234440" y="2286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高雄市前鎮區新光路 33 號  ·  No. 33 Xinguang Rd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889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2788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電話 · Phone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234440" y="3063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+886-7-3391888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6616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3566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客單常見值 · Typical ticket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234440" y="3840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高流量 · 客單 NT$1,500–5,000(成人 buffet × 人數)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234440" y="4160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High volume · NT$1.5-5k (adult buffet × pax)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777240" y="4572000"/>
            <a:ext cx="64008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7724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本店重點 · Outlet notes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777240" y="49834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3935"/>
                </a:solidFill>
              </a:rPr>
              <a:t>·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960120" y="49834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buffet 結帳快 → 客人很可能還沒下載 LINE 就走了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60120" y="523036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Quick checkout — many leave before installing LINE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777240" y="5486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3935"/>
                </a:solidFill>
              </a:rPr>
              <a:t>·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960120" y="548640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建議在「請客留座」桌上立牌提早曝光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60120" y="573328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Place QR on tables so customers see it during meal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777240" y="5989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3935"/>
                </a:solidFill>
              </a:rPr>
              <a:t>·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960120" y="598932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高比例載具客 → 拍小白單路徑要練熟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960120" y="623620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High carrier ratio — train photo path well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7589520" y="1828800"/>
            <a:ext cx="402336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7589520" y="1828800"/>
            <a:ext cx="4023360" cy="411480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33" name="Text 27"/>
          <p:cNvSpPr/>
          <p:nvPr/>
        </p:nvSpPr>
        <p:spPr>
          <a:xfrm>
            <a:off x="7589520" y="1828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專屬 QR Code · Outlet QR</a:t>
            </a:r>
            <a:endParaRPr lang="en-US" sz="11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377440"/>
            <a:ext cx="3657600" cy="329184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7772400" y="5760720"/>
            <a:ext cx="36576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7772400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EB4A9"/>
                </a:solidFill>
              </a:rPr>
              <a:t>立牌位置建議 · Standee placement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7772400" y="6080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935"/>
                </a:solidFill>
              </a:rPr>
              <a:t>入口 + 各桌 + 收銀台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Entrance + tables + cashier counter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16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v2026-05-18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554480"/>
          </a:xfrm>
          <a:prstGeom prst="rect">
            <a:avLst/>
          </a:prstGeom>
          <a:solidFill>
            <a:srgbClr val="3D39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HAWKER 南洋料理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691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AD9D6"/>
                </a:solidFill>
              </a:rPr>
              <a:t>HAWKER Southeast Asian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69164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AD9D6"/>
                </a:solidFill>
              </a:rPr>
              <a:t>南洋風味 · 一樓  ·  Southeast Asian · 1st floor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515600" y="457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#HW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0515600" y="1051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200" kern="0" dirty="0">
                <a:solidFill>
                  <a:srgbClr val="DAD9D6"/>
                </a:solidFill>
              </a:rPr>
              <a:t>Outlet code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6858000" cy="4572000"/>
          </a:xfrm>
          <a:prstGeom prst="rect">
            <a:avLst/>
          </a:prstGeom>
          <a:solidFill>
            <a:srgbClr val="FAF8F6"/>
          </a:solidFill>
          <a:ln w="12700">
            <a:solidFill>
              <a:srgbClr val="DAD9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011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位址 · Address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234440" y="2286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高雄市前鎮區新光路 33 號  ·  No. 33 Xinguang Rd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889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2788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電話 · Phone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234440" y="3063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+886-7-3391888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6616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3566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客單常見值 · Typical ticket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234440" y="3840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客單 NT$1,500–4,500,單身/雙人客居多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234440" y="4160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Ticket NT$1.5-4.5k, solo / duo diners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777240" y="4572000"/>
            <a:ext cx="64008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7724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本店重點 · Outlet notes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777240" y="49834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3935"/>
                </a:solidFill>
              </a:rPr>
              <a:t>·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960120" y="49834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客單接近 NT$2,000 門檻 → 留意「金額不足」訊息,告知客人「下次再來」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60120" y="523036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Many tickets near threshold — train phrase 'Below 2k, come back!'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777240" y="5486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3935"/>
                </a:solidFill>
              </a:rPr>
              <a:t>·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960120" y="548640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多客人為飯店住客 → 已是 LINE 好友比例高,跳過加好友步驟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60120" y="573328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Many in-house guests — likely already LINE friends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777240" y="5989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3935"/>
                </a:solidFill>
              </a:rPr>
              <a:t>·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960120" y="598932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BLT33 共用立牌空間 → 留意 QR 不要拿錯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960120" y="623620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Shared signage area with BLT33 — don't mix QRs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7589520" y="1828800"/>
            <a:ext cx="402336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7589520" y="1828800"/>
            <a:ext cx="4023360" cy="411480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33" name="Text 27"/>
          <p:cNvSpPr/>
          <p:nvPr/>
        </p:nvSpPr>
        <p:spPr>
          <a:xfrm>
            <a:off x="7589520" y="1828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專屬 QR Code · Outlet QR</a:t>
            </a:r>
            <a:endParaRPr lang="en-US" sz="11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377440"/>
            <a:ext cx="3657600" cy="329184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7772400" y="5760720"/>
            <a:ext cx="36576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7772400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EB4A9"/>
                </a:solidFill>
              </a:rPr>
              <a:t>立牌位置建議 · Standee placement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7772400" y="6080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935"/>
                </a:solidFill>
              </a:rPr>
              <a:t>入口 + 各桌 + 收銀台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Entrance + tables + cashier counter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16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v2026-05-18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554480"/>
          </a:xfrm>
          <a:prstGeom prst="rect">
            <a:avLst/>
          </a:prstGeom>
          <a:solidFill>
            <a:srgbClr val="3D39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BLT33 大廳酒吧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691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AD9D6"/>
                </a:solidFill>
              </a:rPr>
              <a:t>BLT33 Lobby Bar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69164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AD9D6"/>
                </a:solidFill>
              </a:rPr>
              <a:t>大廳酒吧 · 一樓  ·  Lobby bar · 1st floor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515600" y="457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#BL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0515600" y="1051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200" kern="0" dirty="0">
                <a:solidFill>
                  <a:srgbClr val="DAD9D6"/>
                </a:solidFill>
              </a:rPr>
              <a:t>Outlet code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6858000" cy="4572000"/>
          </a:xfrm>
          <a:prstGeom prst="rect">
            <a:avLst/>
          </a:prstGeom>
          <a:solidFill>
            <a:srgbClr val="FAF8F6"/>
          </a:solidFill>
          <a:ln w="12700">
            <a:solidFill>
              <a:srgbClr val="DAD9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011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位址 · Address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234440" y="2286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高雄市前鎮區新光路 33 號  ·  No. 33 Xinguang Rd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889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2788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電話 · Phone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234440" y="3063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+886-7-3391888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6616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3566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客單常見值 · Typical ticket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234440" y="3840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客單 NT$2,000–4,000,酒水 + 小點居多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234440" y="4160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Ticket NT$2-4k, drinks + small plates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777240" y="4572000"/>
            <a:ext cx="64008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7724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本店重點 · Outlet notes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777240" y="49834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3935"/>
                </a:solidFill>
              </a:rPr>
              <a:t>·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960120" y="49834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晚間客人多 + 飲酒 → 操作要簡單,結帳 QR 最快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60120" y="523036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Evening + alcohol — keep flow simple, Checkout QR preferred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777240" y="5486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3935"/>
                </a:solidFill>
              </a:rPr>
              <a:t>·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960120" y="548640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獨自客人多 → 不易引導,QR 立牌放吧台明顯處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60120" y="573328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Solo customers — place QR prominently at bar counter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777240" y="5989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3935"/>
                </a:solidFill>
              </a:rPr>
              <a:t>·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960120" y="598932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「Hotel Specific other」品項常見,不影響總計,vision 已會忽略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960120" y="623620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'Hotel Specific other' line common; vision already ignores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7589520" y="1828800"/>
            <a:ext cx="402336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7589520" y="1828800"/>
            <a:ext cx="4023360" cy="411480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33" name="Text 27"/>
          <p:cNvSpPr/>
          <p:nvPr/>
        </p:nvSpPr>
        <p:spPr>
          <a:xfrm>
            <a:off x="7589520" y="1828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專屬 QR Code · Outlet QR</a:t>
            </a:r>
            <a:endParaRPr lang="en-US" sz="11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377440"/>
            <a:ext cx="3657600" cy="329184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7772400" y="5760720"/>
            <a:ext cx="36576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7772400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EB4A9"/>
                </a:solidFill>
              </a:rPr>
              <a:t>立牌位置建議 · Standee placement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7772400" y="6080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935"/>
                </a:solidFill>
              </a:rPr>
              <a:t>入口 + 各桌 + 收銀台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Entrance + tables + cashier counter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16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v2026-05-18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D39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7315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200" kern="0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InterContinental KAOHSIUNG  ·  高雄洲際酒店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1554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感謝您 ·  Thank You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5166360" y="2377440"/>
            <a:ext cx="1828800" cy="45720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2606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AD9D6"/>
                </a:solidFill>
              </a:rPr>
              <a:t>您的細心是這個遊戲成功的關鍵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8640" y="3063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86869"/>
                </a:solidFill>
              </a:rPr>
              <a:t>Your attention to detail is what makes this work.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371600" y="3931920"/>
            <a:ext cx="9418320" cy="2194560"/>
          </a:xfrm>
          <a:prstGeom prst="rect">
            <a:avLst/>
          </a:prstGeom>
          <a:solidFill>
            <a:srgbClr val="26211E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0" y="40690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CEB4A9"/>
                </a:solidFill>
              </a:rPr>
              <a:t>緊急聯絡 · Emergency Contacts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691640" y="4572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DAD9D6"/>
                </a:solidFill>
              </a:rPr>
              <a:t>產品 / 行銷主導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691640" y="48463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86869"/>
                </a:solidFill>
              </a:rPr>
              <a:t>Product / Marketing Lead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691640" y="5166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Tony Chen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691640" y="5532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EB4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tony.chen6@ihg.com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09160" y="4572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DAD9D6"/>
                </a:solidFill>
              </a:rPr>
              <a:t>餐飲部主管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09160" y="48463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86869"/>
                </a:solidFill>
              </a:rPr>
              <a:t>F&amp;B Department Lead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709160" y="5166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[ 現場填 ]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709160" y="5532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EB4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726680" y="4572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DAD9D6"/>
                </a:solidFill>
              </a:rPr>
              <a:t>IT 部門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726680" y="48463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86869"/>
                </a:solidFill>
              </a:rPr>
              <a:t>IT Department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726680" y="5166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[ 現場填 ]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726680" y="5532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EB4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v2026-05-18  ·  Demo Day 2026-05-31  ·  All 5 F&amp;B outlets ready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 Kaohsiung · Staff Operations Guide</dc:title>
  <dc:subject>PptxGenJS Presentation</dc:subject>
  <dc:creator>Tony Chen · IC Kaohsiung</dc:creator>
  <cp:lastModifiedBy>Tony Chen · IC Kaohsiung</cp:lastModifiedBy>
  <cp:revision>1</cp:revision>
  <dcterms:created xsi:type="dcterms:W3CDTF">2026-05-18T03:24:28Z</dcterms:created>
  <dcterms:modified xsi:type="dcterms:W3CDTF">2026-05-18T03:24:28Z</dcterms:modified>
</cp:coreProperties>
</file>