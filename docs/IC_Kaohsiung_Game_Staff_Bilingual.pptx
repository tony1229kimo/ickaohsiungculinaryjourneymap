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39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spc="300" kern="0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InterContinental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1463040" y="1005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DAD9D6"/>
                </a:solidFill>
              </a:rPr>
              <a:t>KAOHSIUNG · 高雄洲際酒店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731520" y="2194560"/>
            <a:ext cx="1371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24688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員工操作手冊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731520" y="3383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spc="200" kern="0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 Operations Guide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31520" y="4251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AD9D6"/>
                </a:solidFill>
              </a:rPr>
              <a:t>詳盡網址清單 · 逐步教學 · 各餐廳專屬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4663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86869"/>
                </a:solidFill>
              </a:rPr>
              <a:t>Detailed URLs · Step-by-step Tutorials · Per-Outlet Guide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" y="5852160"/>
            <a:ext cx="106070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D9D6"/>
                </a:solidFill>
              </a:rPr>
              <a:t>Tony Chen  ·  tony.chen6@ihg.com  ·  v2026-05-21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6309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This guide will teach you EVERY URL, PIN, and action you need.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您要記的三個網址 + 一組 PIN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Three URLs + One PIN You Must Remember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用 LINE 相機掃下面的 QR 直接開,或長按網址加進手機桌面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Scan the QR with LINE camera to open instantly, or long-press URL to save to home screen.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4028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2423160"/>
            <a:ext cx="91440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37744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1. 結帳 QR 工具 / Checkout QR Tool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269748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服務人員幫客人補發擲骰機會 · For staff to issue QR to stuck customer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14400" y="306324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306324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https://ickhh-culinary-game-v2.zeabur.app/admin/checkout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61188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361188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794760"/>
            <a:ext cx="914400" cy="9144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14400" y="374904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2. 客訴查詢工具 / Customer Lookup Tool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914400" y="406908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查發票是否被用過 + 誰用的 · Verify if invoice used / by whom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14400" y="443484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60120" y="443484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https://ickhh-culinary-game-v2.zeabur.app/admin/lookup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48640" y="4983480"/>
            <a:ext cx="11064240" cy="1280160"/>
          </a:xfrm>
          <a:prstGeom prst="rect">
            <a:avLst/>
          </a:prstGeom>
          <a:solidFill>
            <a:srgbClr val="F4ECE7"/>
          </a:solidFill>
          <a:ln w="25400">
            <a:solidFill>
              <a:srgbClr val="CEB4A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4983480"/>
            <a:ext cx="137160" cy="12801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349240"/>
            <a:ext cx="640080" cy="640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691640" y="5074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3. PIN 密碼 / PIN Password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1691640" y="5440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以上兩個網址都用這組 PIN / Same PIN for both URLs above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1691640" y="5760720"/>
            <a:ext cx="3657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1691640" y="5760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spc="600" kern="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3200" dirty="0"/>
          </a:p>
        </p:txBody>
      </p:sp>
      <p:sp>
        <p:nvSpPr>
          <p:cNvPr id="28" name="Text 23"/>
          <p:cNvSpPr/>
          <p:nvPr/>
        </p:nvSpPr>
        <p:spPr>
          <a:xfrm>
            <a:off x="5943600" y="5532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</a:rPr>
              <a:t>⚠️ 只能口頭傳達 · 千萬不要寫在紙條貼牆上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59436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Verbal only — never post the PIN on a wall note.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22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把網址存進手機桌面 · 一秒打開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Save URLs to Home Screen · One-tap Access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加進桌面後就跟 App 一樣 — 一個圖示直接開,不用每次輸網址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Once added, opens like an app — no typing the URL each time.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5486400" cy="40690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51460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560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iOS (iPhone / Safari)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77240" y="320040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80160" y="3154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在 Safari 開啟網址(掃 QR 或手動輸入)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Open URL in Safari (scan QR or type)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77240" y="397764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8016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點底部分享圖示  ⎯  ➞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the share icon at bottom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77240" y="475488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8016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向下捲找到「加入主畫面」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Scroll down → 'Add to Home Screen'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77240" y="553212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532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280160" y="5486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取名稱(例:結帳 QR)→ 加入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Name it (e.g., '結帳 QR') → Add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263640" y="2331720"/>
            <a:ext cx="5349240" cy="40690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514600"/>
            <a:ext cx="548640" cy="54864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178040" y="2560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Android (Chrome)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6492240" y="320040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0" name="Text 26"/>
          <p:cNvSpPr/>
          <p:nvPr/>
        </p:nvSpPr>
        <p:spPr>
          <a:xfrm>
            <a:off x="64922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9951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在 Chrome 開啟網址(掃 QR 或手動輸入)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995160" y="3429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Open URL in Chrome (scan QR or type)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6492240" y="397764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4" name="Text 30"/>
          <p:cNvSpPr/>
          <p:nvPr/>
        </p:nvSpPr>
        <p:spPr>
          <a:xfrm>
            <a:off x="6492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6995160" y="3931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點右上角  ⋮  選單</a:t>
            </a:r>
            <a:endParaRPr lang="en-US" sz="1200" dirty="0"/>
          </a:p>
        </p:txBody>
      </p:sp>
      <p:sp>
        <p:nvSpPr>
          <p:cNvPr id="36" name="Text 32"/>
          <p:cNvSpPr/>
          <p:nvPr/>
        </p:nvSpPr>
        <p:spPr>
          <a:xfrm>
            <a:off x="69951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the ⋮ menu (top right)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6492240" y="475488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8" name="Text 34"/>
          <p:cNvSpPr/>
          <p:nvPr/>
        </p:nvSpPr>
        <p:spPr>
          <a:xfrm>
            <a:off x="64922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Text 35"/>
          <p:cNvSpPr/>
          <p:nvPr/>
        </p:nvSpPr>
        <p:spPr>
          <a:xfrm>
            <a:off x="6995160" y="4709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找到「加到主畫面」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6995160" y="4983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'Add to Home screen'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6492240" y="553212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42" name="Text 38"/>
          <p:cNvSpPr/>
          <p:nvPr/>
        </p:nvSpPr>
        <p:spPr>
          <a:xfrm>
            <a:off x="6492240" y="5532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6995160" y="5486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取名稱 → 加入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6995160" y="57607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Name it → Add</a:t>
            </a:r>
            <a:endParaRPr lang="en-US" sz="950" dirty="0"/>
          </a:p>
        </p:txBody>
      </p:sp>
      <p:sp>
        <p:nvSpPr>
          <p:cNvPr id="45" name="Text 41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22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您一天會做的三件事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Your Three Daily Tasks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90% 時間什麼都不用做。客人自己玩 → 您只在這三種狀況介入。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90% no-op. Intervene only in these three scenarios.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36576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331720"/>
            <a:ext cx="3657600" cy="8229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4231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AD9D6"/>
                </a:solidFill>
              </a:rPr>
              <a:t>TASK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36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26060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7724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客人問怎麼玩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7724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asks how to play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7240" y="4069080"/>
            <a:ext cx="3200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4160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您要做 / Your action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77240" y="4389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帶到 QR 立牌前,口頭教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7724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Walk to standee, demo verbally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77240" y="5074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網址 / URL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" y="5303520"/>
            <a:ext cx="3200400" cy="365760"/>
          </a:xfrm>
          <a:prstGeom prst="rect">
            <a:avLst/>
          </a:prstGeom>
          <a:solidFill>
            <a:srgbClr val="F2EDE9"/>
          </a:solidFill>
          <a:ln w="6350">
            <a:solidFill>
              <a:srgbClr val="DAD9D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7240" y="5303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(不用網址)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7240" y="5806440"/>
            <a:ext cx="3200400" cy="45720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5806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5 秒  ·  5 sec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389120" y="2331720"/>
            <a:ext cx="36576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89120" y="2331720"/>
            <a:ext cx="3657600" cy="8229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0" y="24231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AD9D6"/>
                </a:solidFill>
              </a:rPr>
              <a:t>TASK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0" y="2606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36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606040"/>
            <a:ext cx="640080" cy="64008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6177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客人卡關 / 用載具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461772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stuck / uses carrier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617720" y="4069080"/>
            <a:ext cx="3200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617720" y="4160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您要做 / Your action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617720" y="4389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開「結帳 QR」幫他補發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461772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Issue Checkout QR for them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4617720" y="5074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網址 / URL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617720" y="5303520"/>
            <a:ext cx="3200400" cy="365760"/>
          </a:xfrm>
          <a:prstGeom prst="rect">
            <a:avLst/>
          </a:prstGeom>
          <a:solidFill>
            <a:srgbClr val="F2EDE9"/>
          </a:solidFill>
          <a:ln w="6350">
            <a:solidFill>
              <a:srgbClr val="DAD9D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617720" y="5303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/admin/checkout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617720" y="5806440"/>
            <a:ext cx="3200400" cy="45720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38" name="Text 34"/>
          <p:cNvSpPr/>
          <p:nvPr/>
        </p:nvSpPr>
        <p:spPr>
          <a:xfrm>
            <a:off x="4617720" y="5806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30 秒  ·  30 sec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8229600" y="2331720"/>
            <a:ext cx="36576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229600" y="2331720"/>
            <a:ext cx="3657600" cy="8229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41" name="Text 37"/>
          <p:cNvSpPr/>
          <p:nvPr/>
        </p:nvSpPr>
        <p:spPr>
          <a:xfrm>
            <a:off x="8412480" y="24231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AD9D6"/>
                </a:solidFill>
              </a:rPr>
              <a:t>TASK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8412480" y="2606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3600" dirty="0"/>
          </a:p>
        </p:txBody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0" y="2606040"/>
            <a:ext cx="640080" cy="640080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845820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客人吵發票沒用過</a:t>
            </a:r>
            <a:endParaRPr lang="en-US" sz="1800" dirty="0"/>
          </a:p>
        </p:txBody>
      </p:sp>
      <p:sp>
        <p:nvSpPr>
          <p:cNvPr id="45" name="Text 40"/>
          <p:cNvSpPr/>
          <p:nvPr/>
        </p:nvSpPr>
        <p:spPr>
          <a:xfrm>
            <a:off x="845820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disputes invoice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8458200" y="4069080"/>
            <a:ext cx="3200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458200" y="4160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您要做 / Your action</a:t>
            </a:r>
            <a:endParaRPr lang="en-US" sz="900" dirty="0"/>
          </a:p>
        </p:txBody>
      </p:sp>
      <p:sp>
        <p:nvSpPr>
          <p:cNvPr id="48" name="Text 43"/>
          <p:cNvSpPr/>
          <p:nvPr/>
        </p:nvSpPr>
        <p:spPr>
          <a:xfrm>
            <a:off x="8458200" y="4389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用「客訴查詢」查紀錄</a:t>
            </a:r>
            <a:endParaRPr lang="en-US" sz="1200" dirty="0"/>
          </a:p>
        </p:txBody>
      </p:sp>
      <p:sp>
        <p:nvSpPr>
          <p:cNvPr id="49" name="Text 44"/>
          <p:cNvSpPr/>
          <p:nvPr/>
        </p:nvSpPr>
        <p:spPr>
          <a:xfrm>
            <a:off x="845820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Use Lookup to verify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8458200" y="5074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網址 / URL</a:t>
            </a:r>
            <a:endParaRPr lang="en-US" sz="900" dirty="0"/>
          </a:p>
        </p:txBody>
      </p:sp>
      <p:sp>
        <p:nvSpPr>
          <p:cNvPr id="51" name="Shape 46"/>
          <p:cNvSpPr/>
          <p:nvPr/>
        </p:nvSpPr>
        <p:spPr>
          <a:xfrm>
            <a:off x="8458200" y="5303520"/>
            <a:ext cx="3200400" cy="365760"/>
          </a:xfrm>
          <a:prstGeom prst="rect">
            <a:avLst/>
          </a:prstGeom>
          <a:solidFill>
            <a:srgbClr val="F2EDE9"/>
          </a:solidFill>
          <a:ln w="6350">
            <a:solidFill>
              <a:srgbClr val="DAD9D6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8458200" y="5303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/admin/lookup</a:t>
            </a:r>
            <a:endParaRPr lang="en-US" sz="1100" dirty="0"/>
          </a:p>
        </p:txBody>
      </p:sp>
      <p:sp>
        <p:nvSpPr>
          <p:cNvPr id="53" name="Shape 48"/>
          <p:cNvSpPr/>
          <p:nvPr/>
        </p:nvSpPr>
        <p:spPr>
          <a:xfrm>
            <a:off x="8458200" y="5806440"/>
            <a:ext cx="3200400" cy="45720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54" name="Text 49"/>
          <p:cNvSpPr/>
          <p:nvPr/>
        </p:nvSpPr>
        <p:spPr>
          <a:xfrm>
            <a:off x="8458200" y="5806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15 秒  ·  15 sec</a:t>
            </a:r>
            <a:endParaRPr lang="en-US" sz="1600" dirty="0"/>
          </a:p>
        </p:txBody>
      </p:sp>
      <p:sp>
        <p:nvSpPr>
          <p:cNvPr id="55" name="Text 5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22</a:t>
            </a:r>
            <a:endParaRPr lang="en-US" sz="900" dirty="0"/>
          </a:p>
        </p:txBody>
      </p:sp>
      <p:sp>
        <p:nvSpPr>
          <p:cNvPr id="56" name="Text 5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A · 客人問「這遊戲怎麼玩?」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A · When Customer Asks How to Play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830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EB4A9"/>
                </a:solidFill>
              </a:rPr>
              <a:t>您可以這樣說 / What to say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2194560"/>
            <a:ext cx="5943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8600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935"/>
                </a:solidFill>
              </a:rPr>
              <a:t>「請您用 LINE 主畫面右上角的「掃描」功能,掃這個 QR Code(指立牌)。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935"/>
                </a:solidFill>
              </a:rPr>
              <a:t>LINE 會自動加我們好友,然後直接進遊戲畫面。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935"/>
                </a:solidFill>
              </a:rPr>
              <a:t>結帳後消費滿 NT$2,000 就能玩擲骰子大富翁。」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4160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EB4A9"/>
                </a:solidFill>
              </a:rPr>
              <a:t>In English (for international guests):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4480560"/>
            <a:ext cx="5943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572000"/>
            <a:ext cx="5669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3D3935"/>
                </a:solidFill>
              </a:rPr>
              <a:t>"Please open LINE app, tap the scan icon (top-right of the main screen), and scan this QR code on the table card.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3D3935"/>
                </a:solidFill>
              </a:rPr>
              <a:t>LINE will add IC Kaohsiung as a friend and the game opens automatically.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3D3935"/>
                </a:solidFill>
              </a:rPr>
              <a:t>Spend NT$2,000+ at checkout to start rolling dice."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32320" y="1645920"/>
            <a:ext cx="4480560" cy="4754880"/>
          </a:xfrm>
          <a:prstGeom prst="rect">
            <a:avLst/>
          </a:prstGeom>
          <a:solidFill>
            <a:srgbClr val="F4ECE7"/>
          </a:solidFill>
          <a:ln w="12700">
            <a:solidFill>
              <a:srgbClr val="CEB4A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EB4A9"/>
                </a:solidFill>
              </a:rPr>
              <a:t>提醒 / Key Points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635240" y="22128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935"/>
                </a:solidFill>
              </a:rPr>
              <a:t>用 LINE 內建相機,不是 Safari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635240" y="2487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LINE camera, not Safari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1520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35240" y="29900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935"/>
                </a:solidFill>
              </a:rPr>
              <a:t>QR 在每張桌子的立牌上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635240" y="32644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QR on every table standee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635240" y="37673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935"/>
                </a:solidFill>
              </a:rPr>
              <a:t>客人需要先加好友才能進遊戲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35240" y="40416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Must add LINE friend first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15200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635240" y="45445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935"/>
                </a:solidFill>
              </a:rPr>
              <a:t>進遊戲後選一個角色,然後等結帳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35240" y="48188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Pick character, then dine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0" y="5349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635240" y="53218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935"/>
                </a:solidFill>
              </a:rPr>
              <a:t>結帳後系統自動識別餐廳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35240" y="5596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Outlet auto-identified after scan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B · 結帳 QR · 怎麼開、怎麼用 (1/2)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B · Issue Checkout QR (Part 1 of 2)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874520"/>
            <a:ext cx="914400" cy="914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82880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您要打開的網址 / URL to open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Bookmark this — you'll use it daily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14400" y="251460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251460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https://ickhh-culinary-game-v2.zeabur.app/admin/checkout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3154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打開後依序填以下 4 個欄位 → 出 QR 給客人掃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3474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After opening, fill these 4 fields in order → QR generates for customer to scan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5303520" cy="260604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您手機看到的畫面 / What you see on phone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77240" y="42976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PIN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" y="452628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4526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77240" y="49834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發票編號(從小白單抄)/ Invoice No. (from slip)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77240" y="521208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5212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BM36258896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77240" y="56692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消費金額 / Amount (NT$)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77240" y="589788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77240" y="5897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126480" y="3840480"/>
            <a:ext cx="54864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55080" y="3931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逐步說明 / Step-by-step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355080" y="429768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8" name="Text 25"/>
          <p:cNvSpPr/>
          <p:nvPr/>
        </p:nvSpPr>
        <p:spPr>
          <a:xfrm>
            <a:off x="635508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12280" y="427939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輸入 PIN: 91097496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812280" y="449884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Enter PIN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355080" y="480060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2" name="Text 29"/>
          <p:cNvSpPr/>
          <p:nvPr/>
        </p:nvSpPr>
        <p:spPr>
          <a:xfrm>
            <a:off x="635508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812280" y="478231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輸入發票編號(小白單上「發票號碼」欄)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812280" y="50017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Type invoice no. from POS slip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355080" y="530352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6" name="Text 33"/>
          <p:cNvSpPr/>
          <p:nvPr/>
        </p:nvSpPr>
        <p:spPr>
          <a:xfrm>
            <a:off x="6355080" y="5303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812280" y="528523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輸入消費金額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812280" y="550468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Type amount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6355080" y="580644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40" name="Text 37"/>
          <p:cNvSpPr/>
          <p:nvPr/>
        </p:nvSpPr>
        <p:spPr>
          <a:xfrm>
            <a:off x="6355080" y="5806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812280" y="578815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點 [產生 QR Code] → 進下一頁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6812280" y="600760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Tap [Generate QR] → see next slide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22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B · 結帳 QR (2/2) · 出 QR + 客人掃描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B · QR Generated + Customer Scans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029200" cy="470916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您手機螢幕 / Your phone screen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消費金額 / Amount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NT$ 5,000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給予 2 次擲骰機會 / 2 dice rolls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91640" y="3200400"/>
            <a:ext cx="27432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6040" y="4114800"/>
            <a:ext cx="914400" cy="9144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69164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[ 動態 QR Code ]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6080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</a:rPr>
              <a:t>⏱ 倒數 2:00 / 2-min countdown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52160" y="1691640"/>
            <a:ext cx="576072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8076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接下來怎麼做 / What's next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2194560"/>
            <a:ext cx="502920" cy="50292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7" name="Text 14"/>
          <p:cNvSpPr/>
          <p:nvPr/>
        </p:nvSpPr>
        <p:spPr>
          <a:xfrm>
            <a:off x="61264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766560" y="2194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把這個 QR 拿給客人看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76656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Show the QR to the customer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2834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螢幕橫向拿,確保客人能對準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66560" y="3108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Hold horizontally, easy alignment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566160"/>
            <a:ext cx="502920" cy="50292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3" name="Text 20"/>
          <p:cNvSpPr/>
          <p:nvPr/>
        </p:nvSpPr>
        <p:spPr>
          <a:xfrm>
            <a:off x="61264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766560" y="3566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客人用 LINE 內建相機掃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766560" y="3886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scans with LINE camera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665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不是 Safari 也不是其他 app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766560" y="4480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LINE camera only — not Safari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126480" y="4937760"/>
            <a:ext cx="502920" cy="50292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9" name="Text 26"/>
          <p:cNvSpPr/>
          <p:nvPr/>
        </p:nvSpPr>
        <p:spPr>
          <a:xfrm>
            <a:off x="612648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676656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完成 → 按「下一桌」清空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6766560" y="5257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Done → tap [Next Table] to reset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766560" y="5577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QR 不要拿給第二人,只第一個掃的人有用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766560" y="5852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QR is one-shot — first scanner wins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22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B+ · 掛房帳模式 · 房客專屬流程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B+ · Room Charge Mode for Hotel Guests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11064240" cy="868680"/>
          </a:xfrm>
          <a:prstGeom prst="rect">
            <a:avLst/>
          </a:prstGeom>
          <a:solidFill>
            <a:srgbClr val="EEF2FF"/>
          </a:solidFill>
          <a:ln w="19050">
            <a:solidFill>
              <a:srgbClr val="4F46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137160" cy="8686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78308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</a:rPr>
              <a:t>什麼時候用 / When to use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508760" y="201168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房客把餐費「掛房號」,退房時跟房費一起在櫃台結 → 小白單沒有統一發票編號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508760" y="228600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Hotel guest signs the meal to room. No 統一發票 issued; Front Office settles at checkout.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743200"/>
            <a:ext cx="5303520" cy="3657600"/>
          </a:xfrm>
          <a:prstGeom prst="rect">
            <a:avLst/>
          </a:prstGeom>
          <a:solidFill>
            <a:srgbClr val="FAF8F6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2834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</a:rPr>
              <a:t>您手機看到的畫面 (掛房帳模式)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310896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What you see (Room Charge mode)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77240" y="3429000"/>
            <a:ext cx="2331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34290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86869"/>
                </a:solidFill>
              </a:rPr>
              <a:t>💳 一般結帳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246120" y="3429000"/>
            <a:ext cx="2331720" cy="4114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46120" y="34290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🏨 掛房帳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77240" y="402336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PIN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77240" y="425196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7240" y="4251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77240" y="4754880"/>
            <a:ext cx="4846320" cy="457200"/>
          </a:xfrm>
          <a:prstGeom prst="rect">
            <a:avLst/>
          </a:prstGeom>
          <a:solidFill>
            <a:srgbClr val="EEF2FF"/>
          </a:solidFill>
          <a:ln w="12700">
            <a:solidFill>
              <a:srgbClr val="4F46E5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777240" y="47548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4F46E5"/>
                </a:solidFill>
              </a:rPr>
              <a:t>✗ 發票編號欄已隱藏 / Invoice field hidden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77240" y="5349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消費金額 / Amount (NT$)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7240" y="557784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5577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3200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77240" y="6035040"/>
            <a:ext cx="4846320" cy="29260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60350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🏨 產生掛房帳 QR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126480" y="274320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355080" y="2834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</a:rPr>
              <a:t>操作步驟 / Step-by-step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355080" y="3200400"/>
            <a:ext cx="347472" cy="347472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31" name="Text 28"/>
          <p:cNvSpPr/>
          <p:nvPr/>
        </p:nvSpPr>
        <p:spPr>
          <a:xfrm>
            <a:off x="6355080" y="3200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812280" y="318211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進 /admin/checkout 後,點上方 「🏨 掛房帳」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812280" y="34015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Tap the 🏨 Room Charge toggle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6355080" y="3657600"/>
            <a:ext cx="347472" cy="347472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35" name="Text 32"/>
          <p:cNvSpPr/>
          <p:nvPr/>
        </p:nvSpPr>
        <p:spPr>
          <a:xfrm>
            <a:off x="6355080" y="3657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812280" y="363931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畫面變藍紫色,發票欄消失 ✅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812280" y="38587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UI turns indigo; invoice field hidden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6355080" y="4114800"/>
            <a:ext cx="347472" cy="347472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39" name="Text 36"/>
          <p:cNvSpPr/>
          <p:nvPr/>
        </p:nvSpPr>
        <p:spPr>
          <a:xfrm>
            <a:off x="6355080" y="4114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6812280" y="409651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只需輸入消費金額 → 按下方按鈕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812280" y="43159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Just enter amount → tap button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6355080" y="4572000"/>
            <a:ext cx="347472" cy="347472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43" name="Text 40"/>
          <p:cNvSpPr/>
          <p:nvPr/>
        </p:nvSpPr>
        <p:spPr>
          <a:xfrm>
            <a:off x="6355080" y="4572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6812280" y="455371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客人掃 → 2 分鐘內入帳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6812280" y="47731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Guest scans within 2 min → done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6126480" y="5257800"/>
            <a:ext cx="5486400" cy="1143000"/>
          </a:xfrm>
          <a:prstGeom prst="rect">
            <a:avLst/>
          </a:prstGeom>
          <a:solidFill>
            <a:srgbClr val="FEF2F2"/>
          </a:solidFill>
          <a:ln w="12700">
            <a:solidFill>
              <a:srgbClr val="991B1B"/>
            </a:solidFill>
            <a:prstDash val="solid"/>
          </a:ln>
        </p:spPr>
      </p:sp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5349240"/>
            <a:ext cx="411480" cy="411480"/>
          </a:xfrm>
          <a:prstGeom prst="rect">
            <a:avLst/>
          </a:prstGeom>
        </p:spPr>
      </p:pic>
      <p:sp>
        <p:nvSpPr>
          <p:cNvPr id="48" name="Text 44"/>
          <p:cNvSpPr/>
          <p:nvPr/>
        </p:nvSpPr>
        <p:spPr>
          <a:xfrm>
            <a:off x="6766560" y="5349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</a:rPr>
              <a:t>⚠️ 與一般結帳不同 · Key Differences</a:t>
            </a:r>
            <a:endParaRPr lang="en-US" sz="1200" dirty="0"/>
          </a:p>
        </p:txBody>
      </p:sp>
      <p:sp>
        <p:nvSpPr>
          <p:cNvPr id="49" name="Text 45"/>
          <p:cNvSpPr/>
          <p:nvPr/>
        </p:nvSpPr>
        <p:spPr>
          <a:xfrm>
            <a:off x="6766560" y="5623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</a:rPr>
              <a:t>• 沒有發票編號 → 沒有『同張發票防雙領』機制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</a:rPr>
              <a:t>• 工作人員務必確認金額無誤,**確認後再產生**</a:t>
            </a:r>
            <a:endParaRPr lang="en-US" sz="1000" dirty="0"/>
          </a:p>
        </p:txBody>
      </p:sp>
      <p:sp>
        <p:nvSpPr>
          <p:cNvPr id="50" name="Text 46"/>
          <p:cNvSpPr/>
          <p:nvPr/>
        </p:nvSpPr>
        <p:spPr>
          <a:xfrm>
            <a:off x="6766560" y="60807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86869"/>
                </a:solidFill>
              </a:rPr>
              <a:t>No invoice = no anti-double-redeem. Staff MUST verify amount before generating.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22</a:t>
            </a:r>
            <a:endParaRPr lang="en-US" sz="900" dirty="0"/>
          </a:p>
        </p:txBody>
      </p:sp>
      <p:sp>
        <p:nvSpPr>
          <p:cNvPr id="52" name="Text 48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C · 客訴查詢 · 怎麼查 (1/2)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C · Customer Dispute Lookup (Part 1 of 2)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客人吵「我這張發票沒用過!」→ 用系統紀錄說話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Customer disputes 'I didn't use this!' → Let the system show the truth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19456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2377440"/>
            <a:ext cx="91440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33172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您要打開的網址 / URL to open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265176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Same PIN as Checkout QR · 91097496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14400" y="301752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301752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https://ickhh-culinary-game-v2.zeabur.app/admin/lookup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3703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打開後依序做 / After opening, do these: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4114800"/>
            <a:ext cx="5303520" cy="228600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4206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PIN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" y="443484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4434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77240" y="48920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輸入客人發票編號 / Enter customer's invoice no.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77240" y="512064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5120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BM36258896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77240" y="5623560"/>
            <a:ext cx="4846320" cy="5029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573328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017520" y="5623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EB4A9"/>
                </a:solidFill>
              </a:rPr>
              <a:t>查詢 / Search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6126480" y="411480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355080" y="4206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逐步說明 / Step-by-step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355080" y="452628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8" name="Text 24"/>
          <p:cNvSpPr/>
          <p:nvPr/>
        </p:nvSpPr>
        <p:spPr>
          <a:xfrm>
            <a:off x="635508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6903720" y="45079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輸入 PIN 91097496(同結帳 QR)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903720" y="47823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Same PIN as Checkout QR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355080" y="516636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2" name="Text 28"/>
          <p:cNvSpPr/>
          <p:nvPr/>
        </p:nvSpPr>
        <p:spPr>
          <a:xfrm>
            <a:off x="6355080" y="5166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903720" y="5148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輸入客人手上發票編號(BM-XXXXXXXX)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6903720" y="54223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Type customer's invoice no.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355080" y="580644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6" name="Text 32"/>
          <p:cNvSpPr/>
          <p:nvPr/>
        </p:nvSpPr>
        <p:spPr>
          <a:xfrm>
            <a:off x="6355080" y="5806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3"/>
          <p:cNvSpPr/>
          <p:nvPr/>
        </p:nvSpPr>
        <p:spPr>
          <a:xfrm>
            <a:off x="6903720" y="5788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點 [ 查詢 ] → 看下一頁三色結果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6903720" y="60624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Search → see 3-color result on next slide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22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C · 三色結果代表什麼 (2/2)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C · Three Result Colors Explained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3657600" cy="4709160"/>
          </a:xfrm>
          <a:prstGeom prst="rect">
            <a:avLst/>
          </a:prstGeom>
          <a:solidFill>
            <a:srgbClr val="ECFDF5"/>
          </a:solidFill>
          <a:ln w="25400">
            <a:solidFill>
              <a:srgbClr val="065F4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830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F46"/>
                </a:solidFill>
              </a:rPr>
              <a:t>✓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50876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F46"/>
                </a:solidFill>
              </a:rPr>
              <a:t>綠 · 未使用過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148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65F46"/>
                </a:solidFill>
              </a:rPr>
              <a:t>GREEN · Not used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697480"/>
            <a:ext cx="3200400" cy="36576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65F46"/>
                </a:solidFill>
              </a:rPr>
              <a:t>代表 / Means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3063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客人沒說謊,這張發票真的還沒被人領過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7947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Customer is honest; invoice is still fresh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4434840"/>
            <a:ext cx="3200400" cy="36576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526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65F46"/>
                </a:solidFill>
              </a:rPr>
              <a:t>您要做 / Action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4800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1. 引導他自助掃發票 / 拍小白單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2. 或直接幫他開結帳 QR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5623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1. Guide them to self-redeem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2. Or issue Checkout QR for them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389120" y="1691640"/>
            <a:ext cx="3657600" cy="4709160"/>
          </a:xfrm>
          <a:prstGeom prst="rect">
            <a:avLst/>
          </a:prstGeom>
          <a:solidFill>
            <a:srgbClr val="FEF2F2"/>
          </a:solidFill>
          <a:ln w="25400">
            <a:solidFill>
              <a:srgbClr val="991B1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0" y="17830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1B1B"/>
                </a:solidFill>
              </a:rPr>
              <a:t>✗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534924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1B1B"/>
                </a:solidFill>
              </a:rPr>
              <a:t>紅 · 已被使用過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349240" y="2148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91B1B"/>
                </a:solidFill>
              </a:rPr>
              <a:t>RED · Already used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2697480"/>
            <a:ext cx="3200400" cy="36576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91B1B"/>
                </a:solidFill>
              </a:rPr>
              <a:t>代表 / Means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17720" y="3063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畫面會顯示:幾時用的、誰用的(LINE 暱稱)、在哪桌、領了幾次擲骰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17720" y="37947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Screen shows: when, who (LINE name), which table, how many dice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17720" y="4434840"/>
            <a:ext cx="3200400" cy="36576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526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91B1B"/>
                </a:solidFill>
              </a:rPr>
              <a:t>您要做 / Action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17720" y="4800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1. 把畫面給客人看(紀錄不可改)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2. 客人通常會記起來「啊,我同事幫我領了」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17720" y="5623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1. Show screen to customer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2. They usually remember after seeing details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229600" y="1691640"/>
            <a:ext cx="3657600" cy="4709160"/>
          </a:xfrm>
          <a:prstGeom prst="rect">
            <a:avLst/>
          </a:prstGeom>
          <a:solidFill>
            <a:srgbClr val="FEF3C7"/>
          </a:solidFill>
          <a:ln w="25400">
            <a:solidFill>
              <a:srgbClr val="B4530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412480" y="17830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45309"/>
                </a:solidFill>
              </a:rPr>
              <a:t>⏱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918972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5309"/>
                </a:solidFill>
              </a:rPr>
              <a:t>黃 · 已開 QR 未掃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89720" y="2148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</a:rPr>
              <a:t>AMBER · QR pending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458200" y="2697480"/>
            <a:ext cx="3200400" cy="3657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5820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45309"/>
                </a:solidFill>
              </a:rPr>
              <a:t>代表 / Means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58200" y="3063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2 分鐘內已開過 QR 但客人還沒掃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458200" y="37947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QR issued in past 2 min, not scanned yet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58200" y="4434840"/>
            <a:ext cx="3200400" cy="3657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58200" y="4526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45309"/>
                </a:solidFill>
              </a:rPr>
              <a:t>您要做 / Action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458200" y="4800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1. 請客人立刻掃那張 QR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2. 或等過期再重新產一張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458200" y="5623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1. Ask customer to scan now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2. Or wait expiry, then re-issue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22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D · 客戶儀表板 · 即時看誰玩了多少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D · Admin Customer Dashboard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1106424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137160" cy="123444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1874520"/>
            <a:ext cx="868680" cy="868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828800"/>
            <a:ext cx="9555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後台儀表板 / Dashboard URL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9555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需 LINE 登入 + 服務人員白名單 · LINE login + staff whitelist required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14400" y="2514600"/>
            <a:ext cx="955548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2514600"/>
            <a:ext cx="9464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https://ickhh-culinary-game-v2.zeabur.app/admin/customers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246120"/>
            <a:ext cx="3520440" cy="17830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8328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25880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客戶漏斗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325880" y="36576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Conversion Funnel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731520" y="40233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</a:rPr>
              <a:t>加好友 → 綁餐廳 → 完成兌換 → 領到獎,每段流失多少看得到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731520" y="4526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86869"/>
                </a:solidFill>
              </a:rPr>
              <a:t>4-stage drop-off visible at a glance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251960" y="3246120"/>
            <a:ext cx="3520440" cy="17830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338328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029200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各餐廳活動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029200" y="36576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Per-Restaurant Activity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4434840" y="40233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</a:rPr>
              <a:t>5 間餐廳即時統計,點任一間 → drill-down 該餐廳客戶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434840" y="4526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86869"/>
                </a:solidFill>
              </a:rPr>
              <a:t>Click any outlet → filtered customer list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7955280" y="3246120"/>
            <a:ext cx="3520440" cy="17830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33832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732520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事件區分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732520" y="36576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Event Differentiation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8138160" y="40233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</a:rPr>
              <a:t>明確顯示 🏨 掛房帳 vs 💳 結帳 vs 📄 自掃,一眼看出來源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8138160" y="4526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86869"/>
                </a:solidFill>
              </a:rPr>
              <a:t>Labels clearly split the 3 sources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548640" y="5212080"/>
            <a:ext cx="11064240" cy="1280160"/>
          </a:xfrm>
          <a:prstGeom prst="rect">
            <a:avLst/>
          </a:prstGeom>
          <a:solidFill>
            <a:srgbClr val="E0F2FE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48640" y="5212080"/>
            <a:ext cx="137160" cy="12801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5303520"/>
            <a:ext cx="1097280" cy="109728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868680" y="53035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</a:rPr>
              <a:t>🔑 想分享給沒 LINE 帳號的同事? 用 URL Token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868680" y="5577840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Share with non-LINE colleagues via URL Token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868680" y="5852160"/>
            <a:ext cx="8961120" cy="365760"/>
          </a:xfrm>
          <a:prstGeom prst="rect">
            <a:avLst/>
          </a:prstGeom>
          <a:solidFill>
            <a:srgbClr val="F2EDE9"/>
          </a:solidFill>
          <a:ln w="6350">
            <a:solidFill>
              <a:srgbClr val="0EA5E9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868680" y="58521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/admin/customers?key=e3a501bd...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868680" y="62179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91B1B"/>
                </a:solidFill>
              </a:rPr>
              <a:t>⚠ URL 等於萬能鑰匙,只給信任的人,且不要丟群組  ·  URL = master key. DM only, never group chat.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22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五家餐廳的 QR Code 一覽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All Five Outlet QR Codes at a Glance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每家餐廳一張專屬 QR · 印成立牌放餐廳入口、各桌、收銀台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One dedicated QR per outlet · Print standees for entrance, tables, cashier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#ZL</a:t>
            </a:r>
            <a:endParaRPr lang="en-US" sz="16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880360"/>
            <a:ext cx="1828800" cy="1828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湛露中餐廳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Zhan Lu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85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?r=ZL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48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834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834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19" name="Text 16"/>
          <p:cNvSpPr/>
          <p:nvPr/>
        </p:nvSpPr>
        <p:spPr>
          <a:xfrm>
            <a:off x="2834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#WR</a:t>
            </a:r>
            <a:endParaRPr lang="en-US" sz="16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880360"/>
            <a:ext cx="1828800" cy="18288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834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WA-RA 日式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2834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WA-RA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2971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2834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?r=WR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2834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2834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120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5120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9" name="Text 25"/>
          <p:cNvSpPr/>
          <p:nvPr/>
        </p:nvSpPr>
        <p:spPr>
          <a:xfrm>
            <a:off x="5120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#SD</a:t>
            </a:r>
            <a:endParaRPr lang="en-US" sz="1600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880360"/>
            <a:ext cx="1828800" cy="182880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120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SEEDS 大地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5120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SEEDS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5257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120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?r=SD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5120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5120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406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7406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9" name="Text 34"/>
          <p:cNvSpPr/>
          <p:nvPr/>
        </p:nvSpPr>
        <p:spPr>
          <a:xfrm>
            <a:off x="7406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#HW</a:t>
            </a:r>
            <a:endParaRPr lang="en-US" sz="1600" dirty="0"/>
          </a:p>
        </p:txBody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2880360"/>
            <a:ext cx="1828800" cy="182880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7406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HAWKER</a:t>
            </a:r>
            <a:endParaRPr lang="en-US" sz="1300" dirty="0"/>
          </a:p>
        </p:txBody>
      </p:sp>
      <p:sp>
        <p:nvSpPr>
          <p:cNvPr id="42" name="Text 36"/>
          <p:cNvSpPr/>
          <p:nvPr/>
        </p:nvSpPr>
        <p:spPr>
          <a:xfrm>
            <a:off x="7406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HAWKER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7543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406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?r=HW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7406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46" name="Text 40"/>
          <p:cNvSpPr/>
          <p:nvPr/>
        </p:nvSpPr>
        <p:spPr>
          <a:xfrm>
            <a:off x="7406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47" name="Shape 41"/>
          <p:cNvSpPr/>
          <p:nvPr/>
        </p:nvSpPr>
        <p:spPr>
          <a:xfrm>
            <a:off x="9692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48" name="Shape 42"/>
          <p:cNvSpPr/>
          <p:nvPr/>
        </p:nvSpPr>
        <p:spPr>
          <a:xfrm>
            <a:off x="9692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49" name="Text 43"/>
          <p:cNvSpPr/>
          <p:nvPr/>
        </p:nvSpPr>
        <p:spPr>
          <a:xfrm>
            <a:off x="9692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#BL</a:t>
            </a:r>
            <a:endParaRPr lang="en-US" sz="1600" dirty="0"/>
          </a:p>
        </p:txBody>
      </p:sp>
      <p:pic>
        <p:nvPicPr>
          <p:cNvPr id="5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0" y="2880360"/>
            <a:ext cx="1828800" cy="1828800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9692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BLT33 酒吧</a:t>
            </a:r>
            <a:endParaRPr lang="en-US" sz="1300" dirty="0"/>
          </a:p>
        </p:txBody>
      </p:sp>
      <p:sp>
        <p:nvSpPr>
          <p:cNvPr id="52" name="Text 45"/>
          <p:cNvSpPr/>
          <p:nvPr/>
        </p:nvSpPr>
        <p:spPr>
          <a:xfrm>
            <a:off x="9692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BLT33</a:t>
            </a:r>
            <a:endParaRPr lang="en-US" sz="1000" dirty="0"/>
          </a:p>
        </p:txBody>
      </p:sp>
      <p:sp>
        <p:nvSpPr>
          <p:cNvPr id="53" name="Shape 46"/>
          <p:cNvSpPr/>
          <p:nvPr/>
        </p:nvSpPr>
        <p:spPr>
          <a:xfrm>
            <a:off x="9829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4" name="Text 47"/>
          <p:cNvSpPr/>
          <p:nvPr/>
        </p:nvSpPr>
        <p:spPr>
          <a:xfrm>
            <a:off x="9692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?r=BL</a:t>
            </a:r>
            <a:endParaRPr lang="en-US" sz="1000" dirty="0"/>
          </a:p>
        </p:txBody>
      </p:sp>
      <p:sp>
        <p:nvSpPr>
          <p:cNvPr id="55" name="Text 48"/>
          <p:cNvSpPr/>
          <p:nvPr/>
        </p:nvSpPr>
        <p:spPr>
          <a:xfrm>
            <a:off x="9692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56" name="Text 49"/>
          <p:cNvSpPr/>
          <p:nvPr/>
        </p:nvSpPr>
        <p:spPr>
          <a:xfrm>
            <a:off x="9692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57" name="Text 5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22</a:t>
            </a:r>
            <a:endParaRPr lang="en-US" sz="900" dirty="0"/>
          </a:p>
        </p:txBody>
      </p:sp>
      <p:sp>
        <p:nvSpPr>
          <p:cNvPr id="58" name="Text 5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湛露中餐廳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9D6"/>
                </a:solidFill>
              </a:rPr>
              <a:t>Zhan Lu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AD9D6"/>
                </a:solidFill>
              </a:rPr>
              <a:t>粵式經典 · 二樓  ·  Cantonese fine dining · 2F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#ZL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2F  ·  No. 33 Xinguang Rd, 2F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客單高(NT$3,000–15,000),IHG 會員 85 折常見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High ticket NT$3-15k, IHG 85% discount common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多客人用「載具 + 統編」報帳 → 拍小白單路徑常用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Many use carrier + tax ID → photo path common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餐券抵用情境多 — 系統以發票「總計」為準,不扣餐券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F&amp;B vouchers count toward 總計, no deduction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結帳容易花 5+ 分鐘 → 客人可能離開後在大廳掃發票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Long checkout — invoice may be scanned in lobby later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22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WA-RA 日式餐廳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9D6"/>
                </a:solidFill>
              </a:rPr>
              <a:t>WA-RA Japanese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AD9D6"/>
                </a:solidFill>
              </a:rPr>
              <a:t>日式割烹 · 二樓  ·  Japanese kappo · 2F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#WR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2F  ·  No. 33 Xinguang Rd, 2F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客單 NT$2,000–8,000,套餐為主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Ticket NT$2-8k, set menus dominate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客人多為商務 / 親子 → 引導用結帳 QR 最快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Business/family customers — Checkout QR fastest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高比例會員客 → 「85 折」常見,擲骰計算不變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High loyalty ratio — dice math unchanged by discount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建議放兩張立牌:大門 + 收銀台旁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Place 2 QR standees: entrance + cashier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22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SEEDS 大地全日餐廳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9D6"/>
                </a:solidFill>
              </a:rPr>
              <a:t>SEEDS All-Day Dining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AD9D6"/>
                </a:solidFill>
              </a:rPr>
              <a:t>全日 buffet · 一樓  ·  All-day buffet · 1F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#SD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 ·  No. 33 Xinguang Rd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高流量 · 客單 NT$1,500–5,000(成人 buffet × 人數)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High volume · NT$1.5-5k (adult buffet × pax)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buffet 結帳快 → 客人很可能還沒下載 LINE 就走了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Quick checkout — many leave before installing LINE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建議桌上立牌提早曝光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Place QR on tables for early visibility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高比例載具客 → 拍小白單路徑要練熟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High carrier ratio — train photo path well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22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HAWKER 南洋料理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9D6"/>
                </a:solidFill>
              </a:rPr>
              <a:t>HAWKER Southeast Asian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AD9D6"/>
                </a:solidFill>
              </a:rPr>
              <a:t>南洋風味 · 一樓  ·  Southeast Asian · 1F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#HW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 ·  No. 33 Xinguang Rd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客單 NT$1,500–4,500,單身/雙人客居多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Ticket NT$1.5-4.5k, solo/duo diners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客單接近 NT$2,000 門檻 → 練「下次再來」話術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Many near threshold — train 'come back next time'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多飯店住客 → 已是 LINE 好友比例高,跳過加好友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Many hotel guests — likely already LINE friends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BLT33 共用立牌空間 → 留意 QR 不要拿錯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Shared signage area with BLT33 — don't mix QRs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22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BLT33 大廳酒吧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9D6"/>
                </a:solidFill>
              </a:rPr>
              <a:t>BLT33 Lobby Bar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AD9D6"/>
                </a:solidFill>
              </a:rPr>
              <a:t>大廳酒吧 · 一樓  ·  Lobby bar · 1F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#BL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 ·  No. 33 Xinguang Rd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客單 NT$2,000–4,000,酒水 + 小點居多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Ticket NT$2-4k, drinks + small plates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晚間客人多 + 飲酒 → 操作要簡單,結帳 QR 最快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Evening + alcohol — keep flow simple, Checkout QR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獨自客人多 → QR 立牌放吧台明顯處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Solo customers — prominent placement at bar counter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「Hotel Specific other」品項常見,不影響總計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'Hotel Specific other' line common; vision ignores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22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客人手機錯誤訊息 · 對照處理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Error Message Decoder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客人指著螢幕說「掃不過」時對照下表 · 結論:幾乎所有狀況都走「結帳 QR」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Bottom line: most issues are resolved by issuing Checkout QR.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106424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1945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客人看到 · Customer sees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AD9D6"/>
                </a:solidFill>
              </a:rPr>
              <a:t>EN translation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您怎麼做 · Your action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11064240" cy="29260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606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請先綁定桌號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0" y="26060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Bind a table first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955280" y="2606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走 餐廳 QR / Use restaurant QR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898648"/>
            <a:ext cx="1106424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8986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不是電子發票格式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0" y="28986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Not an e-invoice QR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955280" y="28986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對準發票左側 QR / Aim at left 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191256"/>
            <a:ext cx="11064240" cy="29260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1912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不是 IC 開的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0" y="31912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Not from IC Kaohsiung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955280" y="31912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別家發票無法兌換 / Other vendor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483864"/>
            <a:ext cx="1106424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48386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發票日期過期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0" y="34838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Invoice date expired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55280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走 結帳 QR / Issue Checkout QR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776472"/>
            <a:ext cx="11064240" cy="29260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37764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此發票已被使用過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0" y="37764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Already used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955280" y="37764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走 客訴查詢 / Use Lookup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069080"/>
            <a:ext cx="1106424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0690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這一桌已兌換過一張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0" y="40690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One per binding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55280" y="4069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客訴查詢 / 結帳 QR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361688"/>
            <a:ext cx="11064240" cy="29260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43616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金額需滿 NT$2,000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0" y="43616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Below 2k threshold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955280" y="4361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告知無法參加 / Inform: below threshold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4654296"/>
            <a:ext cx="1106424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" y="46542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圖片不夠清楚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572000" y="46542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Photo unclear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955280" y="46542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重拍 / 結帳 QR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8640" y="4946904"/>
            <a:ext cx="11064240" cy="29260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44" name="Text 42"/>
          <p:cNvSpPr/>
          <p:nvPr/>
        </p:nvSpPr>
        <p:spPr>
          <a:xfrm>
            <a:off x="685800" y="4946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不像 IC 的單據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72000" y="494690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Not an IC slip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955280" y="49469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確認單據完整 / 結帳 QR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48640" y="5239512"/>
            <a:ext cx="1106424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2395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黃色 請洽服務人員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572000" y="52395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Yellow staff banner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955280" y="52395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直接走 結帳 QR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48640" y="5532120"/>
            <a:ext cx="11064240" cy="29260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52" name="Text 50"/>
          <p:cNvSpPr/>
          <p:nvPr/>
        </p:nvSpPr>
        <p:spPr>
          <a:xfrm>
            <a:off x="685800" y="55321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房客無發票要兌獎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572000" y="55321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Hotel guest, no invoice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955280" y="55321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走 🏨 掛房帳模式 / Use Room Charge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48640" y="5824728"/>
            <a:ext cx="1106424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85800" y="58247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連線逾時 / IdToken expired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4572000" y="58247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Token timeout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955280" y="58247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按 🔄 重新登入 / Tap Re-login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8640" y="6117336"/>
            <a:ext cx="11064240" cy="29260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60" name="Text 58"/>
          <p:cNvSpPr/>
          <p:nvPr/>
        </p:nvSpPr>
        <p:spPr>
          <a:xfrm>
            <a:off x="685800" y="61173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935"/>
                </a:solidFill>
              </a:rPr>
              <a:t>⏰ QR Code 已過期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572000" y="611733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QR expired (&gt;2 min)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955280" y="6117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3935"/>
                </a:solidFill>
              </a:rPr>
              <a:t>按「重新產生」/ Tap Regenerate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22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反作弊規則 + 絕對不要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Anti-Fraud Rules + Hard Prohibitions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486400" cy="470916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反作弊 4 道鎖 / 4 Anti-Fraud Locks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41732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系統自動運作,您不用記 / Automatic; no memorization needed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7240" y="269748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325880" y="2651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賣方統編 = 91097496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325880" y="2971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Seller VAT = 91097496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77240" y="356616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32588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日期是今天或昨天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325880" y="3840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Date = today / yesterday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" y="443484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2588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同一桌 20 分鐘限一張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2588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One per binding / 20 min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77240" y="530352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325880" y="5257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同張發票全世界唯一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325880" y="5577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invoice_no unique globally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63640" y="1691640"/>
            <a:ext cx="5349240" cy="4709160"/>
          </a:xfrm>
          <a:prstGeom prst="rect">
            <a:avLst/>
          </a:prstGeom>
          <a:solidFill>
            <a:srgbClr val="F4ECE7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83080"/>
            <a:ext cx="502920" cy="50292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13232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絕對不要 / Hard Prohibitions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713232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會被審計記錄,違反有紀律處分 / Audited; violations are disciplinary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6492240" y="269748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0" name="Text 26"/>
          <p:cNvSpPr/>
          <p:nvPr/>
        </p:nvSpPr>
        <p:spPr>
          <a:xfrm>
            <a:off x="6995160" y="2679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PIN 寫在牆上紙條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6995160" y="2953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Write PIN on a wall note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6492240" y="34290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3" name="Text 29"/>
          <p:cNvSpPr/>
          <p:nvPr/>
        </p:nvSpPr>
        <p:spPr>
          <a:xfrm>
            <a:off x="6995160" y="3410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QR 截圖傳給多人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6995160" y="3685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Share QR screenshot widely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6492240" y="416052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6" name="Text 32"/>
          <p:cNvSpPr/>
          <p:nvPr/>
        </p:nvSpPr>
        <p:spPr>
          <a:xfrm>
            <a:off x="6995160" y="4142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為了討好客人破壞規則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6995160" y="44165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Bend rules for customers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6492240" y="48920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9" name="Text 35"/>
          <p:cNvSpPr/>
          <p:nvPr/>
        </p:nvSpPr>
        <p:spPr>
          <a:xfrm>
            <a:off x="6995160" y="4873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替客人輸 LINE 帳號密碼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6995160" y="51480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Type customer LINE login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6492240" y="562356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995160" y="5605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輕信「朋友幫我領了」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6995160" y="58795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Trust 'friend redeemed' claims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22</a:t>
            </a:r>
            <a:endParaRPr lang="en-US" sz="900" dirty="0"/>
          </a:p>
        </p:txBody>
      </p:sp>
      <p:sp>
        <p:nvSpPr>
          <p:cNvPr id="45" name="Text 4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練習情境 · 主管帶大家演練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Role-Play Scenarios · For Manager-led Training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讀情境 → 想您會怎麼處理 → 對答案 / Read scenario → Plan your response → Check answer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11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EB4A9"/>
                </a:solidFill>
              </a:rPr>
              <a:t>情境 1 / Scenario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客人結帳後說:「我用載具,沒拿到發票,但我同事說可以拿擲骰?」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2496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Customer: 'I used a carrier, no printed invoice. My colleague said I can get dice?'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2724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教他點 LIFF 主畫面「📸 我用載具(拍小白單)」自助,或您幫他開「結帳 QR」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108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EB4A9"/>
                </a:solidFill>
              </a:rPr>
              <a:t>情境 2 / Scenario 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3383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客人激動地說:「我這張 BM-12345678 明明沒用過,為什麼系統說已使用?」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3639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 angrily: 'My BM-12345678 was never used, why does it say it has been?'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77240" y="3867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開 /admin/lookup 輸入發票編號 → 給客人看紅色畫面(使用時間 / 暱稱 / 桌號)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251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251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97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EB4A9"/>
                </a:solidFill>
              </a:rPr>
              <a:t>情境 3 / Scenario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4526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客人說:「我朋友剛剛幫我領了,我自己又掃,但系統說已用?」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4782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Customer: 'My friend just redeemed for me, now I'm trying and it says used?'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7240" y="5010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用 /admin/lookup 確認確實是他朋友(LINE 暱稱)領的;若客人堅持,看是否需要主管介入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394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5394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440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EB4A9"/>
                </a:solidFill>
              </a:rPr>
              <a:t>情境 4 / Scenario 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" y="5669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客人消費 NT$1,800,問為什麼沒擲骰?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7724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 asks why no dice for NT$1,800 spend?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7240" y="6153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告知「最低門檻 NT$2,000」,鼓勵下次再來;系統規則,不能破例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快速參考卡 · 列印貼在服務站抽屜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Quick Reference Card · Print and Pin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1033272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691640"/>
            <a:ext cx="10332720" cy="64008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783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7830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B4A9"/>
                </a:solidFill>
              </a:rPr>
              <a:t>IC Kaohsiung · Staff Quick Reference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8872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結帳 QR · Checkout QR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188720" y="2788920"/>
            <a:ext cx="4846320" cy="411480"/>
          </a:xfrm>
          <a:prstGeom prst="rect">
            <a:avLst/>
          </a:prstGeom>
          <a:solidFill>
            <a:srgbClr val="F2EDE9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/admin/checkout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</a:rPr>
              <a:t>→ 一般結帳 / 🏨 掛房帳 切換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34930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→ Issue QR · 💳 Regular / 🏨 Room Charge toggle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21792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客訴查詢 · Customer Lookup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2788920"/>
            <a:ext cx="4846320" cy="411480"/>
          </a:xfrm>
          <a:prstGeom prst="rect">
            <a:avLst/>
          </a:prstGeom>
          <a:solidFill>
            <a:srgbClr val="F2EDE9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/admin/lookup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21792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</a:rPr>
              <a:t>→ 查發票誰用過、何時用過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217920" y="34930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→ Lookup who/when used invoice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88720" y="4023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PIN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188720" y="4297680"/>
            <a:ext cx="484632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88720" y="4297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600" kern="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1188720" y="48920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(同時用於上面兩個網址)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188720" y="51206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Used for BOTH URLs above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217920" y="4023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五家餐廳 QR 對應代碼 · Outlet codes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17920" y="4297680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42976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#ZL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132320" y="4297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湛露 / Zhan Lu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217920" y="4626864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9" name="Text 26"/>
          <p:cNvSpPr/>
          <p:nvPr/>
        </p:nvSpPr>
        <p:spPr>
          <a:xfrm>
            <a:off x="6217920" y="462686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#WR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132320" y="46268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WA-RA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17920" y="4956048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0" y="4956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#SD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132320" y="49560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SEEDS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217920" y="5285232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5" name="Text 32"/>
          <p:cNvSpPr/>
          <p:nvPr/>
        </p:nvSpPr>
        <p:spPr>
          <a:xfrm>
            <a:off x="6217920" y="528523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#HW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7132320" y="52852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HAWKER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217920" y="5614416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8" name="Text 35"/>
          <p:cNvSpPr/>
          <p:nvPr/>
        </p:nvSpPr>
        <p:spPr>
          <a:xfrm>
            <a:off x="6217920" y="561441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#BL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7132320" y="56144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BLT33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14400" y="5852160"/>
            <a:ext cx="10332720" cy="32004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41" name="Text 38"/>
          <p:cNvSpPr/>
          <p:nvPr/>
        </p:nvSpPr>
        <p:spPr>
          <a:xfrm>
            <a:off x="914400" y="58521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D3935"/>
                </a:solidFill>
              </a:rPr>
              <a:t>📊 後台儀表板 / Dashboard:  /admin/customers  ·  需 LIFF 登入 + 白名單 / LIFF + whitelist required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914400" y="6172200"/>
            <a:ext cx="10332720" cy="1828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43" name="Text 40"/>
          <p:cNvSpPr/>
          <p:nvPr/>
        </p:nvSpPr>
        <p:spPr>
          <a:xfrm>
            <a:off x="914400" y="6172200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EB4A9"/>
                </a:solidFill>
              </a:rPr>
              <a:t>規則 · NT$2,000 = 1 擲骰  ·  上限 5 次  ·  QR 2 分鐘 TTL  ·  Tony Chen tony.chen6@ihg.com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22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D39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731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spc="200" kern="0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InterContinental KAOHSIUNG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48640" y="1645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感謝您  ·  Thank You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5166360" y="2468880"/>
            <a:ext cx="1828800" cy="4572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2697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AD9D6"/>
                </a:solidFill>
              </a:rPr>
              <a:t>您的細心是這個遊戲成功的關鍵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3154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86869"/>
                </a:solidFill>
              </a:rPr>
              <a:t>Your attention to detail is what makes this work.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371600" y="4023360"/>
            <a:ext cx="9418320" cy="2194560"/>
          </a:xfrm>
          <a:prstGeom prst="rect">
            <a:avLst/>
          </a:prstGeom>
          <a:solidFill>
            <a:srgbClr val="26211E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371600" y="41605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CEB4A9"/>
                </a:solidFill>
              </a:rPr>
              <a:t>緊急聯絡 · Emergency Contacts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691640" y="4663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DAD9D6"/>
                </a:solidFill>
              </a:rPr>
              <a:t>產品 / 行銷主導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691640" y="49377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Product / Marketing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691640" y="5257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Tony Chen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691640" y="5623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tony.chen6@ihg.com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709160" y="4663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DAD9D6"/>
                </a:solidFill>
              </a:rPr>
              <a:t>餐飲部主管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709160" y="49377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F&amp;B Department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709160" y="5257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[ 現場填 ]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709160" y="5623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726680" y="4663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DAD9D6"/>
                </a:solidFill>
              </a:rPr>
              <a:t>IT 部門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726680" y="49377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IT Department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7726680" y="5257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[ 現場填 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726680" y="5623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v2026-05-21  ·  Demo 2026-05-31  ·  All 5 F&amp;B outlets ready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Kaohsiung · Staff Operations Guide v2</dc:title>
  <dc:subject>PptxGenJS Presentation</dc:subject>
  <dc:creator>Tony Chen · IC Kaohsiung</dc:creator>
  <cp:lastModifiedBy>Tony Chen · IC Kaohsiung</cp:lastModifiedBy>
  <cp:revision>1</cp:revision>
  <dcterms:created xsi:type="dcterms:W3CDTF">2026-05-21T13:38:30Z</dcterms:created>
  <dcterms:modified xsi:type="dcterms:W3CDTF">2026-05-21T13:38:30Z</dcterms:modified>
</cp:coreProperties>
</file>