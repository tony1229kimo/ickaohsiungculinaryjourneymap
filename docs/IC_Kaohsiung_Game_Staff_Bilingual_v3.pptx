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300" kern="0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InterContinental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4630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AD9D6"/>
                </a:solidFill>
              </a:rPr>
              <a:t>KAOHSIUNG · 高雄洲際酒店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1371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員工操作手冊 v3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spc="200" kern="0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Operations Guide v3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069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AD9D6"/>
                </a:solidFill>
              </a:rPr>
              <a:t>加好友自動偵測 · 自動推券到 LINE · 補發券 QR 流程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86869"/>
                </a:solidFill>
              </a:rPr>
              <a:t>Auto-detect Friend · Auto-push Coupon · Compensation QR Flow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solidFill>
            <a:srgbClr val="26211E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074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B4A9"/>
                </a:solidFill>
              </a:rPr>
              <a:t>🆕 v3 新增 / What's New:  P0 加好友 gate  ·  P1 自動推獎  ·  P2 補發券 QR  ·  防無限刷券 wrapper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5989320"/>
            <a:ext cx="1060704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AD9D6"/>
                </a:solidFill>
              </a:rPr>
              <a:t>Tony Chen  ·  tony.chen6@ihg.com  ·  v2026-06-04 (v3)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This guide covers every URL, PIN, and the 4 new automation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您要記的三個網址 + 一組 PIN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Three URLs + One PIN You Must Remember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用 LINE 相機掃下面的 QR 直接開,或長按網址加進手機桌面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Scan the QR with LINE camera to open instantly, or long-press URL to save to home screen.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137160" cy="128016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42316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3774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1. 結帳 QR 工具 (3 種模式) / Checkout QR Tool (3 modes)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26974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💳 一般 + 🏨 掛房帳 + 📨 補發 · Regular / Room Charge / Compensation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063240"/>
            <a:ext cx="9509760" cy="411480"/>
          </a:xfrm>
          <a:prstGeom prst="rect">
            <a:avLst/>
          </a:prstGeom>
          <a:solidFill>
            <a:srgbClr val="F2EDE9"/>
          </a:solidFill>
          <a:ln w="6350">
            <a:solidFill>
              <a:srgbClr val="3D39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0632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https://ickhh-culinary-game-v2.zeabur.app/admin/checkout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11064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611880"/>
            <a:ext cx="137160" cy="128016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7947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37490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2. 客訴查詢工具 / Customer Lookup Tool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14400" y="40690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查發票是否被用過 + 誰用的 · Verify if invoice used / by whom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914400" y="4434840"/>
            <a:ext cx="9509760" cy="411480"/>
          </a:xfrm>
          <a:prstGeom prst="rect">
            <a:avLst/>
          </a:prstGeom>
          <a:solidFill>
            <a:srgbClr val="F2EDE9"/>
          </a:solidFill>
          <a:ln w="6350">
            <a:solidFill>
              <a:srgbClr val="3D393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0120" y="44348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https://ickhh-culinary-game-v2.zeabur.app/admin/lookup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ECE7"/>
          </a:solidFill>
          <a:ln w="25400">
            <a:solidFill>
              <a:srgbClr val="CEB4A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4983480"/>
            <a:ext cx="137160" cy="1280160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4924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3. PIN 密碼 / PIN Password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69164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以上兩個網址都用這組 PIN / Same PIN for both URLs above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691640" y="576072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691640" y="5760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594360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⚠️ 只能口頭傳達 · 千萬不要寫在紙條貼牆上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9436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Verbal only — never post the PIN on a wall note.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24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把網址存進手機桌面 · 一秒打開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Save URLs to Home Screen · One-tap Access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加進桌面後就跟 App 一樣 — 一個圖示直接開,不用每次輸網址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Once added, opens like an app — no typing the URL each time.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86400" cy="406908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146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iOS (iPhone / Safari)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在 Safari 開啟網址(掃 QR 或手動輸入)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Open URL in Safari (scan QR or type)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8016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點底部分享圖示  ⎯  ➞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8016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Tap the share icon at bottom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475488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801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向下捲找到「加入主畫面」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8016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Scroll down → 'Add to Home Screen'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77240" y="553212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8016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取名稱(例:結帳 QR)→ 加入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8016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Name it (e.g., '結帳 QR') → Add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63640" y="2331720"/>
            <a:ext cx="5349240" cy="406908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14600"/>
            <a:ext cx="548640" cy="5486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7804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Android (Chrome)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6492240" y="320040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0" name="Text 26"/>
          <p:cNvSpPr/>
          <p:nvPr/>
        </p:nvSpPr>
        <p:spPr>
          <a:xfrm>
            <a:off x="64922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99516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在 Chrome 開啟網址(掃 QR 或手動輸入)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995160" y="3429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Open URL in Chrome (scan QR or type)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492240" y="397764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4" name="Text 30"/>
          <p:cNvSpPr/>
          <p:nvPr/>
        </p:nvSpPr>
        <p:spPr>
          <a:xfrm>
            <a:off x="6492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99516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點右上角  ⋮  選單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995160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Tap the ⋮ menu (top right)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492240" y="475488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8" name="Text 34"/>
          <p:cNvSpPr/>
          <p:nvPr/>
        </p:nvSpPr>
        <p:spPr>
          <a:xfrm>
            <a:off x="64922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6995160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找到「加到主畫面」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995160" y="4983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Tap 'Add to Home screen'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492240" y="553212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42" name="Text 38"/>
          <p:cNvSpPr/>
          <p:nvPr/>
        </p:nvSpPr>
        <p:spPr>
          <a:xfrm>
            <a:off x="649224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6995160" y="5486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取名稱 → 加入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995160" y="5760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Name it → Add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24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您一天會做的三件事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Your Three Daily Tasks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90% 時間什麼都不用做。客人自己玩 → 您只在這三種狀況介入。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90% no-op. Intervene only in these three scenarios.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657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31720"/>
            <a:ext cx="3657600" cy="8229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AD9D6"/>
                </a:solidFill>
              </a:rPr>
              <a:t>TASK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客人問怎麼玩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Customer asks how to play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023360"/>
            <a:ext cx="3200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您要做 / Your action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帶到 QR 立牌前,口頭教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4617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Walk to standee, demo verbally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" y="4937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網址 / URL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77240" y="5166360"/>
            <a:ext cx="3200400" cy="347472"/>
          </a:xfrm>
          <a:prstGeom prst="rect">
            <a:avLst/>
          </a:prstGeom>
          <a:solidFill>
            <a:srgbClr val="F2EDE9"/>
          </a:solidFill>
          <a:ln w="6350">
            <a:solidFill>
              <a:srgbClr val="DAD9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166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(不用網址)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" y="5605272"/>
            <a:ext cx="3200400" cy="347472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605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5 秒  ·  5 sec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89120" y="2331720"/>
            <a:ext cx="3657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89120" y="2331720"/>
            <a:ext cx="3657600" cy="8229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AD9D6"/>
                </a:solidFill>
              </a:rPr>
              <a:t>TASK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6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606040"/>
            <a:ext cx="640080" cy="6400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6177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客人卡關 / 用載具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6177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Customer stuck / uses carrier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617720" y="4023360"/>
            <a:ext cx="3200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1772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您要做 / Your action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61772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開「結帳 QR」幫他補發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617720" y="4617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Issue Checkout QR for them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617720" y="4937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網址 / URL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617720" y="5166360"/>
            <a:ext cx="3200400" cy="347472"/>
          </a:xfrm>
          <a:prstGeom prst="rect">
            <a:avLst/>
          </a:prstGeom>
          <a:solidFill>
            <a:srgbClr val="F2EDE9"/>
          </a:solidFill>
          <a:ln w="6350">
            <a:solidFill>
              <a:srgbClr val="DAD9D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617720" y="5166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/admin/checkout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617720" y="5605272"/>
            <a:ext cx="3200400" cy="347472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38" name="Text 34"/>
          <p:cNvSpPr/>
          <p:nvPr/>
        </p:nvSpPr>
        <p:spPr>
          <a:xfrm>
            <a:off x="4617720" y="5605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30 秒  ·  30 sec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8229600" y="2331720"/>
            <a:ext cx="3657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8229600" y="2331720"/>
            <a:ext cx="3657600" cy="8229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41" name="Text 37"/>
          <p:cNvSpPr/>
          <p:nvPr/>
        </p:nvSpPr>
        <p:spPr>
          <a:xfrm>
            <a:off x="841248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AD9D6"/>
                </a:solidFill>
              </a:rPr>
              <a:t>TASK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841248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6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2606040"/>
            <a:ext cx="640080" cy="64008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4582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客人吵發票沒用過</a:t>
            </a:r>
            <a:endParaRPr lang="en-US" sz="1800" dirty="0"/>
          </a:p>
        </p:txBody>
      </p:sp>
      <p:sp>
        <p:nvSpPr>
          <p:cNvPr id="45" name="Text 40"/>
          <p:cNvSpPr/>
          <p:nvPr/>
        </p:nvSpPr>
        <p:spPr>
          <a:xfrm>
            <a:off x="84582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Customer disputes invoice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458200" y="4023360"/>
            <a:ext cx="3200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45820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您要做 / Your action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845820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用「客訴查詢」查紀錄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8458200" y="4617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Use Lookup to verify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8458200" y="4937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網址 / URL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458200" y="5166360"/>
            <a:ext cx="3200400" cy="347472"/>
          </a:xfrm>
          <a:prstGeom prst="rect">
            <a:avLst/>
          </a:prstGeom>
          <a:solidFill>
            <a:srgbClr val="F2EDE9"/>
          </a:solidFill>
          <a:ln w="6350">
            <a:solidFill>
              <a:srgbClr val="DAD9D6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58200" y="5166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/admin/lookup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8458200" y="5605272"/>
            <a:ext cx="3200400" cy="347472"/>
          </a:xfrm>
          <a:prstGeom prst="rect">
            <a:avLst/>
          </a:prstGeom>
          <a:solidFill>
            <a:srgbClr val="F4ECE7"/>
          </a:solidFill>
          <a:ln/>
        </p:spPr>
      </p:sp>
      <p:sp>
        <p:nvSpPr>
          <p:cNvPr id="54" name="Text 49"/>
          <p:cNvSpPr/>
          <p:nvPr/>
        </p:nvSpPr>
        <p:spPr>
          <a:xfrm>
            <a:off x="8458200" y="5605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15 秒  ·  15 sec</a:t>
            </a:r>
            <a:endParaRPr lang="en-US" sz="1300" dirty="0"/>
          </a:p>
        </p:txBody>
      </p:sp>
      <p:sp>
        <p:nvSpPr>
          <p:cNvPr id="55" name="Shape 5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199632"/>
            <a:ext cx="320040" cy="32004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1097280" y="6126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🆕 v3 新增:還有 3 件「系統自動做、您不用做」的事 → 下一頁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24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🆕 系統自動為您做的事 · 不用記、不用按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What the System Does Automatically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v3 上線後新增三項自動化 · 客人從加好友到拿到券,系統全自動跑完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3 new automations in v3 — friend-add to coupon-delivery, system handles all of it.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64240" cy="1280160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137160" cy="1280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777240" cy="777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91640" y="2331720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1" name="Text 8"/>
          <p:cNvSpPr/>
          <p:nvPr/>
        </p:nvSpPr>
        <p:spPr>
          <a:xfrm>
            <a:off x="1691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331720" y="23317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P0 · 加好友自動偵測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331720" y="265176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Auto-detect Friend Add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31720" y="29077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客人沒加 LINE 好友 → 跳「請加好友」頁。客人加完 → 系統 1.5 秒內偵測 → 自動跳回遊戲。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31720" y="320040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Not a friend? Shows gate page. After they add, auto-detected in 1.5 sec, jumps back to game.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" y="3703320"/>
            <a:ext cx="11064240" cy="1280160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3703320"/>
            <a:ext cx="137160" cy="1280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86200"/>
            <a:ext cx="777240" cy="7772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691640" y="3749040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0" name="Text 16"/>
          <p:cNvSpPr/>
          <p:nvPr/>
        </p:nvSpPr>
        <p:spPr>
          <a:xfrm>
            <a:off x="1691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2331720" y="37490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P1 · 中獎自動推券到 LINE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2331720" y="4069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Auto-push Coupon to LINE Chat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331720" y="432511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客人擲骰中獎 / 完成旅程 → 系統自動推 Flex 訊息進 LINE 對話框。客人按按鈕領券。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331720" y="461772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Win or finish journey → system auto-pushes Flex message to LINE chat. Tap button to claim.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5120640"/>
            <a:ext cx="137160" cy="1280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03520"/>
            <a:ext cx="777240" cy="7772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691640" y="5166360"/>
            <a:ext cx="502920" cy="50292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9" name="Text 24"/>
          <p:cNvSpPr/>
          <p:nvPr/>
        </p:nvSpPr>
        <p:spPr>
          <a:xfrm>
            <a:off x="1691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2331720" y="51663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</a:rPr>
              <a:t>防無限刷券 · 單次使用 wrapper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2331720" y="548640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Anti-Infinite-Claim · Single-use Wrapper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2331720" y="57424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每張券有獨立 token,點過一次就鎖。第二次點 → 顯示「已領取過」頁。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2331720" y="60350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Each coupon has unique token. Tap once = locked. Second tap shows 'already claimed' page.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24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A · 客人問「這遊戲怎麼玩?」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A · When Customer Asks How to Play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6400800" cy="475488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4A9"/>
                </a:solidFill>
              </a:rPr>
              <a:t>您可以這樣說 / What to say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5943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935"/>
                </a:solidFill>
              </a:rPr>
              <a:t>「請您用 LINE 主畫面右上角的「掃描」功能,掃這個 QR Code(指立牌)。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935"/>
                </a:solidFill>
              </a:rPr>
              <a:t>LINE 會自動加我們好友,然後直接進遊戲畫面。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935"/>
                </a:solidFill>
              </a:rPr>
              <a:t>結帳後消費滿 NT$2,000 就能玩擲骰子大富翁。」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EB4A9"/>
                </a:solidFill>
              </a:rPr>
              <a:t>In English (for international guests):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480560"/>
            <a:ext cx="5943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72000"/>
            <a:ext cx="5669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3D3935"/>
                </a:solidFill>
              </a:rPr>
              <a:t>"Please open LINE app, tap the scan icon (top-right of the main screen), and scan this QR code on the table card.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3D3935"/>
                </a:solidFill>
              </a:rPr>
              <a:t>LINE will add IC Kaohsiung as a friend and the game opens automatically.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3D3935"/>
                </a:solidFill>
              </a:rPr>
              <a:t>Spend NT$2,000+ at checkout to start rolling dice."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645920"/>
            <a:ext cx="4480560" cy="4754880"/>
          </a:xfrm>
          <a:prstGeom prst="rect">
            <a:avLst/>
          </a:prstGeom>
          <a:solidFill>
            <a:srgbClr val="F4ECE7"/>
          </a:solidFill>
          <a:ln w="12700">
            <a:solidFill>
              <a:srgbClr val="CEB4A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4A9"/>
                </a:solidFill>
              </a:rPr>
              <a:t>提醒 / Key 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2212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用 LINE 內建相機,不是 Safari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2624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LINE camera, not Safari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2990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QR 在每張桌子的立牌上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3401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QR on every table standee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35240" y="3767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🆕 沒加好友的客人 → 系統自動帶他加 → 完成後自動回遊戲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4178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Non-friend → auto-prompted, auto-jumps back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35240" y="4544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進遊戲後選一個角色,然後等結帳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4956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Pick character, then dine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5321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🆕 中獎後券會自動推到他的 LINE 對話框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5733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Win → coupon auto-pushed to LINE chat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B · 結帳 QR · 怎麼開、怎麼用 (1/2)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B · Issue Checkout QR (Part 1 of 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37160" cy="128016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187452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8288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您要打開的網址 / URL to open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Bookmark this — you'll use it daily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" y="2514600"/>
            <a:ext cx="9509760" cy="411480"/>
          </a:xfrm>
          <a:prstGeom prst="rect">
            <a:avLst/>
          </a:prstGeom>
          <a:solidFill>
            <a:srgbClr val="F2EDE9"/>
          </a:solidFill>
          <a:ln w="6350">
            <a:solidFill>
              <a:srgbClr val="3D39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5146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https://ickhh-culinary-game-v2.zeabur.app/admin/checkout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打開後依序填以下 4 個欄位 → 出 QR 給客人掃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474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After opening, fill these 4 fields in order → QR generates for customer to scan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5303520" cy="260604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您手機看到的畫面 / What you see on phone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4251960"/>
            <a:ext cx="1600200" cy="36576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251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💳 一般結帳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23160" y="4251960"/>
            <a:ext cx="1600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23160" y="4251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🏨 掛房帳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069080" y="425196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6908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📨 補發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PIN: 91097496  ·  發票編號 + 金額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" y="507492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BM36258896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7240" y="553212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7240" y="5989320"/>
            <a:ext cx="4846320" cy="3657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5989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B4A9"/>
                </a:solidFill>
              </a:rPr>
              <a:t>產生 QR Code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26480" y="3840480"/>
            <a:ext cx="5486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逐步說明 / Step-by-step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55080" y="4297680"/>
            <a:ext cx="365760" cy="36576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2" name="Text 29"/>
          <p:cNvSpPr/>
          <p:nvPr/>
        </p:nvSpPr>
        <p:spPr>
          <a:xfrm>
            <a:off x="6355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12280" y="42793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確認上方在「💳 一般結帳」模式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812280" y="449884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Confirm 💳 Regular mode selected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55080" y="4800600"/>
            <a:ext cx="365760" cy="36576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6" name="Text 33"/>
          <p:cNvSpPr/>
          <p:nvPr/>
        </p:nvSpPr>
        <p:spPr>
          <a:xfrm>
            <a:off x="635508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812280" y="47823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輸入 PIN: 91097496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812280" y="50017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Enter PIN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355080" y="5303520"/>
            <a:ext cx="365760" cy="36576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40" name="Text 37"/>
          <p:cNvSpPr/>
          <p:nvPr/>
        </p:nvSpPr>
        <p:spPr>
          <a:xfrm>
            <a:off x="63550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812280" y="52852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輸入發票編號(小白單上「發票號碼」欄)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812280" y="55046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Type invoice no. from POS slip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355080" y="5806440"/>
            <a:ext cx="365760" cy="36576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44" name="Text 41"/>
          <p:cNvSpPr/>
          <p:nvPr/>
        </p:nvSpPr>
        <p:spPr>
          <a:xfrm>
            <a:off x="6355080" y="5806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812280" y="578815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輸入消費金額 → 按 [產生 QR Code]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812280" y="60076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Type amount → Tap [Generate QR]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B · 結帳 QR (2/2) · 出 QR + 客人掃描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B · QR Generated + Customer Scans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029200" cy="470916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您手機螢幕 / Your phone screen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消費金額 / Amount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NT$ 5,000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給予 2 次擲骰機會 / 2 dice rolls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320040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4114800"/>
            <a:ext cx="91440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[ 動態 QR Code 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6080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⏱ 倒數 2:00 / 2-min countdown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1691640"/>
            <a:ext cx="57607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接下來怎麼做 / What's next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2194560"/>
            <a:ext cx="502920" cy="50292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76656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把這個 QR 拿給客人看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6656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Show the QR to the customer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螢幕橫向拿,確保客人能對準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Hold horizontally, easy alignment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566160"/>
            <a:ext cx="502920" cy="50292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76656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客人用 LINE 內建相機掃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766560" y="3886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Customer scans with LINE camera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6656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不是 Safari 也不是其他 app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66560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LINE camera only — not Safari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26480" y="4937760"/>
            <a:ext cx="502920" cy="50292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29" name="Text 26"/>
          <p:cNvSpPr/>
          <p:nvPr/>
        </p:nvSpPr>
        <p:spPr>
          <a:xfrm>
            <a:off x="61264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76656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完成 → 按「下一桌」清空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766560" y="5257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69"/>
                </a:solidFill>
              </a:rPr>
              <a:t>Done → tap [Next Table] to reset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766560" y="5577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QR 不要拿給第二人,只第一個掃的人有用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766560" y="5852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QR is one-shot — first scanner wins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B+ · 🏨 掛房帳模式 · 房客專屬流程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B+ · Room Charge Mode for Hotel Guests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3716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什麼時候用 / When to use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2011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房客把餐費「掛房號」,退房時跟房費一起在櫃台結 → 小白單沒有統一發票編號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08760" y="2286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Hotel guest signs the meal to room. No 統一發票 issued; Front Office settles at checkout.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5303520" cy="3657600"/>
          </a:xfrm>
          <a:prstGeom prst="rect">
            <a:avLst/>
          </a:prstGeom>
          <a:solidFill>
            <a:srgbClr val="FAF8F6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您手機看到的畫面 (掛房帳模式)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1089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What you see (Room Charge mode)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" y="342900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💳 一般結帳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377440" y="3429000"/>
            <a:ext cx="1554480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774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🏨 掛房帳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77640" y="342900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776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📨 補發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" y="3977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PIN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" y="420624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7240" y="4709160"/>
            <a:ext cx="484632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77724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F46E5"/>
                </a:solidFill>
              </a:rPr>
              <a:t>✗ 發票編號欄已隱藏 / Invoice field hidden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5257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消費金額 / Amount (NT$)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7240" y="548640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3200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77240" y="5943600"/>
            <a:ext cx="484632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5943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🏨 產生掛房帳 QR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26480" y="27432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</a:rPr>
              <a:t>操作步驟 / Step-by-step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55080" y="320040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30"/>
          <p:cNvSpPr/>
          <p:nvPr/>
        </p:nvSpPr>
        <p:spPr>
          <a:xfrm>
            <a:off x="635508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12280" y="31821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進 /admin/checkout 後,點上方 「🏨 掛房帳」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12280" y="34015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Tap the 🏨 Room Charge toggle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355080" y="365760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7" name="Text 34"/>
          <p:cNvSpPr/>
          <p:nvPr/>
        </p:nvSpPr>
        <p:spPr>
          <a:xfrm>
            <a:off x="635508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812280" y="36393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畫面變藍紫色,發票欄消失 ✅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812280" y="38587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UI turns indigo; invoice field hidden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355080" y="411480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Text 38"/>
          <p:cNvSpPr/>
          <p:nvPr/>
        </p:nvSpPr>
        <p:spPr>
          <a:xfrm>
            <a:off x="635508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812280" y="40965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只需輸入消費金額 → 按下方按鈕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812280" y="43159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Just enter amount → tap button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355080" y="457200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5" name="Text 42"/>
          <p:cNvSpPr/>
          <p:nvPr/>
        </p:nvSpPr>
        <p:spPr>
          <a:xfrm>
            <a:off x="6355080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812280" y="45537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客人掃 → 2 分鐘內入帳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812280" y="47731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Guest scans within 2 min → done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126480" y="5257800"/>
            <a:ext cx="548640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349240"/>
            <a:ext cx="411480" cy="41148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766560" y="5349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⚠️ 與一般結帳不同 · Key Differences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6766560" y="5623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• 沒有發票編號 → 沒有『同張發票防雙領』機制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• 工作人員務必確認金額無誤,**確認後再產生**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6766560" y="6080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No invoice = no anti-double-redeem. Staff MUST verify amount before generating.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24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🆕 TASK B++ · 📨 補發優惠券 · 客訴 / 漏發 場合用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B++ · Compensation Coupon (Service Recovery)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37160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</a:rPr>
              <a:t>什麼時候用 / When to use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2011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客人遺漏中獎、客訴需要補償、活動贈送 → 直接挑獎品產 QR 給客人掃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08760" y="2286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Missed prize, complaint compensation, promo gift → pick reward, generate QR, customer scans.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5303520" cy="3657600"/>
          </a:xfrm>
          <a:prstGeom prst="rect">
            <a:avLst/>
          </a:prstGeom>
          <a:solidFill>
            <a:srgbClr val="FAF8F6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</a:rPr>
              <a:t>您手機看到的畫面 (補發模式)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1089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What you see (Compensation mode)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" y="342900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💳 一般結帳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377440" y="3429000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774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🏨 掛房帳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77640" y="3429000"/>
            <a:ext cx="1554480" cy="3657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776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📨 補發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" y="3977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PIN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" y="420624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47091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選擇獎品 / Pick reward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7240" y="493776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HAWKER 雙人套餐  NT$2,500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" y="5440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備註 (選填) / Note (optional)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77240" y="5669280"/>
            <a:ext cx="4846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客訴補償 #INC-0612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77240" y="6035040"/>
            <a:ext cx="4846320" cy="2926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6035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📨 產生補發 QR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2743200"/>
            <a:ext cx="5486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5508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</a:rPr>
              <a:t>操作步驟 / Step-by-step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55080" y="3200400"/>
            <a:ext cx="347472" cy="34747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4" name="Text 31"/>
          <p:cNvSpPr/>
          <p:nvPr/>
        </p:nvSpPr>
        <p:spPr>
          <a:xfrm>
            <a:off x="635508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12280" y="31821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</a:rPr>
              <a:t>進 /admin/checkout 後,點上方 「📨 補發」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812280" y="34015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Tap the 📨 Compensation toggle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355080" y="3611880"/>
            <a:ext cx="347472" cy="34747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8" name="Text 35"/>
          <p:cNvSpPr/>
          <p:nvPr/>
        </p:nvSpPr>
        <p:spPr>
          <a:xfrm>
            <a:off x="635508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812280" y="35935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</a:rPr>
              <a:t>畫面變綠色,出現獎品下拉選單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812280" y="381304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UI turns emerald, reward picker appears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355080" y="4023360"/>
            <a:ext cx="347472" cy="34747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2" name="Text 39"/>
          <p:cNvSpPr/>
          <p:nvPr/>
        </p:nvSpPr>
        <p:spPr>
          <a:xfrm>
            <a:off x="635508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812280" y="400507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</a:rPr>
              <a:t>選獎品(餐券 / 飲品券 等)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812280" y="42245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Pick reward (meal voucher etc.)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355080" y="4434840"/>
            <a:ext cx="347472" cy="34747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6" name="Text 43"/>
          <p:cNvSpPr/>
          <p:nvPr/>
        </p:nvSpPr>
        <p:spPr>
          <a:xfrm>
            <a:off x="635508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812280" y="441655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</a:rPr>
              <a:t>(選填)填備註,例:「客訴 #號」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6812280" y="46360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(Optional) note like 'complaint #'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355080" y="4846320"/>
            <a:ext cx="347472" cy="34747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50" name="Text 47"/>
          <p:cNvSpPr/>
          <p:nvPr/>
        </p:nvSpPr>
        <p:spPr>
          <a:xfrm>
            <a:off x="6355080" y="484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812280" y="48280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</a:rPr>
              <a:t>按按鈕 → 客人掃 → 自動領券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6812280" y="5047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Tap button → guest scans → auto-claim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126480" y="5486400"/>
            <a:ext cx="548640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623560"/>
            <a:ext cx="411480" cy="411480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6766560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✨ 客人掃完會自動跳到 LINE OA · 券直接出現在對話框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6766560" y="5806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After scan, auto-jumps to LINE OA chat — coupon appears as Flex message.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6766560" y="6080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⚠ 大獎(終點)不能補發,只能補發路上格子或抽獎獎品。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24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C · 客訴查詢 · 怎麼查 (1/2)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C · Customer Dispute Lookup (Part 1 of 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客人吵「我這張發票沒用過!」→ 用系統紀錄說話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disputes 'I didn't use this!' → Let the system show the truth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137160" cy="128016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3774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3317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您要打開的網址 / URL to open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26517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Same PIN as Checkout QR · 91097496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017520"/>
            <a:ext cx="9509760" cy="411480"/>
          </a:xfrm>
          <a:prstGeom prst="rect">
            <a:avLst/>
          </a:prstGeom>
          <a:solidFill>
            <a:srgbClr val="F2EDE9"/>
          </a:solidFill>
          <a:ln w="6350">
            <a:solidFill>
              <a:srgbClr val="3D39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0175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https://ickhh-culinary-game-v2.zeabur.app/admin/lookup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打開後依序做 / After opening, do these: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5303520" cy="228600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206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PIN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443484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434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" y="4892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69"/>
                </a:solidFill>
              </a:rPr>
              <a:t>輸入客人發票編號 / Enter customer's invoice no.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5120640"/>
            <a:ext cx="4846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BM36258896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" y="5623560"/>
            <a:ext cx="4846320" cy="50292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573328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0175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B4A9"/>
                </a:solidFill>
              </a:rPr>
              <a:t>查詢 / Search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126480" y="41148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5508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逐步說明 / Step-by-step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355080" y="4526280"/>
            <a:ext cx="411480" cy="4114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28" name="Text 24"/>
          <p:cNvSpPr/>
          <p:nvPr/>
        </p:nvSpPr>
        <p:spPr>
          <a:xfrm>
            <a:off x="635508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903720" y="4507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輸入 PIN 91097496(同結帳 QR)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903720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Same PIN as Checkout QR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355080" y="5166360"/>
            <a:ext cx="411480" cy="4114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2" name="Text 28"/>
          <p:cNvSpPr/>
          <p:nvPr/>
        </p:nvSpPr>
        <p:spPr>
          <a:xfrm>
            <a:off x="635508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903720" y="5148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輸入客人手上發票編號(BM-XXXXXXXX)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903720" y="54223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Type customer's invoice no.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355080" y="5806440"/>
            <a:ext cx="411480" cy="411480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36" name="Text 32"/>
          <p:cNvSpPr/>
          <p:nvPr/>
        </p:nvSpPr>
        <p:spPr>
          <a:xfrm>
            <a:off x="6355080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903720" y="5788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點 [ 查詢 ] → 看下一頁三色結果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903720" y="60624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Tap Search → see 3-color result on next slide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24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C · 三色結果代表什麼 (2/2)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C · Three Result Colors Explained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4709160"/>
          </a:xfrm>
          <a:prstGeom prst="rect">
            <a:avLst/>
          </a:prstGeom>
          <a:solidFill>
            <a:srgbClr val="ECFDF5"/>
          </a:solidFill>
          <a:ln w="254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F46"/>
                </a:solidFill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F46"/>
                </a:solidFill>
              </a:rPr>
              <a:t>綠 · 未使用過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F46"/>
                </a:solidFill>
              </a:rPr>
              <a:t>GREEN · Not used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3200400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65F46"/>
                </a:solidFill>
              </a:rPr>
              <a:t>代表 / Means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客人沒說謊,這張發票真的還沒被人領過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Customer is honest; invoice is still fresh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434840"/>
            <a:ext cx="3200400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65F46"/>
                </a:solidFill>
              </a:rPr>
              <a:t>您要做 / 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D3935"/>
                </a:solidFill>
              </a:rPr>
              <a:t>1. 引導他自助掃發票 / 拍小白單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D3935"/>
                </a:solidFill>
              </a:rPr>
              <a:t>2. 或直接幫他開結帳 QR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86869"/>
                </a:solidFill>
              </a:rPr>
              <a:t>1. Guide them to self-redeem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86869"/>
                </a:solidFill>
              </a:rPr>
              <a:t>2. Or issue Checkout QR for them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691640"/>
            <a:ext cx="3657600" cy="4709160"/>
          </a:xfrm>
          <a:prstGeom prst="rect">
            <a:avLst/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1B1B"/>
                </a:solidFill>
              </a:rPr>
              <a:t>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34924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</a:rPr>
              <a:t>紅 · 已被使用過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4924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</a:rPr>
              <a:t>RED · Already used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697480"/>
            <a:ext cx="3200400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1B1B"/>
                </a:solidFill>
              </a:rPr>
              <a:t>代表 / Means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畫面會顯示:幾時用的、誰用的(LINE 暱稱)、在哪桌、領了幾次擲骰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Screen shows: when, who (LINE name), which table, how many dice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4434840"/>
            <a:ext cx="3200400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91B1B"/>
                </a:solidFill>
              </a:rPr>
              <a:t>您要做 / Action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4800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D3935"/>
                </a:solidFill>
              </a:rPr>
              <a:t>1. 把畫面給客人看(紀錄不可改)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D3935"/>
                </a:solidFill>
              </a:rPr>
              <a:t>2. 客人通常會記起來「啊,我同事幫我領了」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5623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86869"/>
                </a:solidFill>
              </a:rPr>
              <a:t>1. Show screen to customer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86869"/>
                </a:solidFill>
              </a:rPr>
              <a:t>2. They usually remember after seeing details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0" y="1691640"/>
            <a:ext cx="3657600" cy="470916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1248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⏱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18972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黃 · 已開 QR 未掃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8972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</a:rPr>
              <a:t>AMBER · QR pending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58200" y="2697480"/>
            <a:ext cx="32004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45309"/>
                </a:solidFill>
              </a:rPr>
              <a:t>代表 / Means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58200" y="3063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2 分鐘內已開過 QR 但客人還沒掃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QR issued in past 2 min, not scanned yet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58200" y="4434840"/>
            <a:ext cx="32004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45309"/>
                </a:solidFill>
              </a:rPr>
              <a:t>您要做 / Action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58200" y="4800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D3935"/>
                </a:solidFill>
              </a:rPr>
              <a:t>1. 請客人立刻掃那張 QR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D3935"/>
                </a:solidFill>
              </a:rPr>
              <a:t>2. 或等過期再重新產一張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58200" y="5623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86869"/>
                </a:solidFill>
              </a:rPr>
              <a:t>1. Ask customer to scan now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86869"/>
                </a:solidFill>
              </a:rPr>
              <a:t>2. Or wait expiry, then re-issue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D · 客戶儀表板 · 即時看誰玩了多少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TASK D · Admin Customer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37160" cy="123444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874520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828800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</a:rPr>
              <a:t>後台儀表板 / Dashboard URL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需 LINE 登入 + 服務人員白名單 · LINE login + staff whitelist required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" y="2514600"/>
            <a:ext cx="9555480" cy="411480"/>
          </a:xfrm>
          <a:prstGeom prst="rect">
            <a:avLst/>
          </a:prstGeom>
          <a:solidFill>
            <a:srgbClr val="F2EDE9"/>
          </a:solidFill>
          <a:ln w="6350">
            <a:solidFill>
              <a:srgbClr val="3D39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514600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https://ickhh-culinary-game-v2.zeabur.app/admin/customers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3520440" cy="178308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832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客戶漏斗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25880" y="3657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Conversion Funnel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3152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加好友 → 綁餐廳 → 完成兌換 → 領到獎,每段流失多少看得到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3152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4-stage drop-off visible at a glance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251960" y="3246120"/>
            <a:ext cx="3520440" cy="178308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3832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2920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各餐廳活動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0" y="3657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Per-Restaurant Activity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43484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5 間餐廳即時統計,點任一間 → drill-down 該餐廳客戶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43484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Click any outlet → filtered customer list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955280" y="3246120"/>
            <a:ext cx="3520440" cy="178308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3832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3252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事件區分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732520" y="3657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Event Differentiation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1381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明確顯示 🏨 掛房帳 vs 💳 結帳 vs 📨 補發 vs 📄 自掃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13816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86869"/>
                </a:solidFill>
              </a:rPr>
              <a:t>Labels split the 4 sources clearly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48640" y="5212080"/>
            <a:ext cx="11064240" cy="128016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8640" y="5212080"/>
            <a:ext cx="137160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53035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68680" y="53035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🔑 想分享給沒 LINE 帳號的同事? 用 URL Token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68680" y="557784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Share with non-LINE colleagues via URL Token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68680" y="5852160"/>
            <a:ext cx="8961120" cy="365760"/>
          </a:xfrm>
          <a:prstGeom prst="rect">
            <a:avLst/>
          </a:prstGeom>
          <a:solidFill>
            <a:srgbClr val="F2ED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68680" y="5852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/admin/customers?key=e3a501bd...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868680" y="62179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1B1B"/>
                </a:solidFill>
              </a:rPr>
              <a:t>⚠ URL 等於萬能鑰匙,只給信任的人,且不要丟群組  ·  URL = master key. DM only, never group chat.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24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五家餐廳的 QR Code 一覽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All Five Outlet QR Codes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每家餐廳一張專屬 QR · 印成立牌放餐廳入口、各桌、收銀台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One dedicated QR per outlet · Print standees for entrance, tables, cashier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1945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2194560" cy="50292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#ZL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880360"/>
            <a:ext cx="182880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湛露中餐廳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Zhan Lu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5532120"/>
            <a:ext cx="192024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?r=ZL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掃了直接進遊戲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6126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scan → enter game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834640" y="2286000"/>
            <a:ext cx="21945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34640" y="2286000"/>
            <a:ext cx="2194560" cy="50292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19" name="Text 16"/>
          <p:cNvSpPr/>
          <p:nvPr/>
        </p:nvSpPr>
        <p:spPr>
          <a:xfrm>
            <a:off x="2834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#WR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880360"/>
            <a:ext cx="1828800" cy="18288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3464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WA-RA 日式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83464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WA-RA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971800" y="5532120"/>
            <a:ext cx="192024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8346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?r=WR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83464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掃了直接進遊戲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834640" y="6126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scan → enter game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120640" y="2286000"/>
            <a:ext cx="21945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120640" y="2286000"/>
            <a:ext cx="2194560" cy="50292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29" name="Text 25"/>
          <p:cNvSpPr/>
          <p:nvPr/>
        </p:nvSpPr>
        <p:spPr>
          <a:xfrm>
            <a:off x="5120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#SD</a:t>
            </a:r>
            <a:endParaRPr lang="en-US" sz="16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880360"/>
            <a:ext cx="1828800" cy="18288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2064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SEEDS 大地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12064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SEEDS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257800" y="5532120"/>
            <a:ext cx="192024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1206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?r=SD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12064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掃了直接進遊戲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120640" y="6126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scan → enter game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7406640" y="2286000"/>
            <a:ext cx="21945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7406640" y="2286000"/>
            <a:ext cx="2194560" cy="50292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9" name="Text 34"/>
          <p:cNvSpPr/>
          <p:nvPr/>
        </p:nvSpPr>
        <p:spPr>
          <a:xfrm>
            <a:off x="7406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#HW</a:t>
            </a:r>
            <a:endParaRPr lang="en-US" sz="16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880360"/>
            <a:ext cx="1828800" cy="18288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40664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HAWKER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740664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HAWKER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543800" y="5532120"/>
            <a:ext cx="192024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4066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?r=HW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740664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掃了直接進遊戲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7406640" y="6126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scan → enter game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9692640" y="2286000"/>
            <a:ext cx="21945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9692640" y="2286000"/>
            <a:ext cx="2194560" cy="50292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49" name="Text 43"/>
          <p:cNvSpPr/>
          <p:nvPr/>
        </p:nvSpPr>
        <p:spPr>
          <a:xfrm>
            <a:off x="9692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#BL</a:t>
            </a:r>
            <a:endParaRPr lang="en-US" sz="16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880360"/>
            <a:ext cx="1828800" cy="182880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969264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935"/>
                </a:solidFill>
              </a:rPr>
              <a:t>BLT33 酒吧</a:t>
            </a:r>
            <a:endParaRPr lang="en-US" sz="1300" dirty="0"/>
          </a:p>
        </p:txBody>
      </p:sp>
      <p:sp>
        <p:nvSpPr>
          <p:cNvPr id="52" name="Text 45"/>
          <p:cNvSpPr/>
          <p:nvPr/>
        </p:nvSpPr>
        <p:spPr>
          <a:xfrm>
            <a:off x="969264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BLT33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9829800" y="5532120"/>
            <a:ext cx="192024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96926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?r=BL</a:t>
            </a:r>
            <a:endParaRPr lang="en-US" sz="1000" dirty="0"/>
          </a:p>
        </p:txBody>
      </p:sp>
      <p:sp>
        <p:nvSpPr>
          <p:cNvPr id="55" name="Text 48"/>
          <p:cNvSpPr/>
          <p:nvPr/>
        </p:nvSpPr>
        <p:spPr>
          <a:xfrm>
            <a:off x="969264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掃了直接進遊戲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9692640" y="6126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scan → enter game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24</a:t>
            </a:r>
            <a:endParaRPr lang="en-US" sz="900" dirty="0"/>
          </a:p>
        </p:txBody>
      </p:sp>
      <p:sp>
        <p:nvSpPr>
          <p:cNvPr id="58" name="Text 5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湛露中餐廳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9D6"/>
                </a:solidFill>
              </a:rPr>
              <a:t>Zhan Lu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4592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粵式經典 · 二樓  ·  Cantonese fine dining · 2F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332720" y="365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#ZL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858000" cy="461772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965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34440" y="2240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2F  ·  No. 33 Xinguang Rd, 2F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2344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234440" y="3794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客單高(NT$3,000–15,000),IHG 會員 85 折常見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344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High ticket NT$3-15k, IHG 85% discount common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77240" y="452628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77240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60120" y="4937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多客人用「載具 + 統編」報帳 → 拍小白單路徑常用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60120" y="51480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Many use carrier + tax ID → photo path common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60120" y="5394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餐券抵用情境多 — 系統以發票「總計」為準,不扣餐券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56052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F&amp;B vouchers count toward 總計, no deduction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" y="58521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60120" y="5852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結帳容易花 5+ 分鐘 → 客人可能離開後在大廳掃發票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60120" y="60624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Long checkout — invoice may be scanned in lobby later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589520" y="1783080"/>
            <a:ext cx="4023360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2" name="Text 26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31720"/>
            <a:ext cx="3657600" cy="32918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72400" y="571500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7724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24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WA-RA 日式餐廳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9D6"/>
                </a:solidFill>
              </a:rPr>
              <a:t>WA-RA Japanese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4592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日式割烹 · 二樓  ·  Japanese kappo · 2F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332720" y="365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#WR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858000" cy="461772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965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34440" y="2240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2F  ·  No. 33 Xinguang Rd, 2F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2344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234440" y="3794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 NT$2,000–8,000,套餐為主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344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Ticket NT$2-8k, set menus dominate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77240" y="452628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77240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60120" y="4937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客人多為商務 / 親子 → 引導用結帳 QR 最快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60120" y="51480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Business/family customers — Checkout QR fastest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60120" y="5394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高比例會員客 → 「85 折」常見,擲骰計算不變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56052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High loyalty ratio — dice math unchanged by discount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" y="58521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60120" y="5852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建議放兩張立牌:大門 + 收銀台旁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60120" y="60624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Place 2 QR standees: entrance + cashier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589520" y="1783080"/>
            <a:ext cx="4023360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2" name="Text 26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31720"/>
            <a:ext cx="3657600" cy="32918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72400" y="571500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7724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24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SEEDS 大地全日餐廳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9D6"/>
                </a:solidFill>
              </a:rPr>
              <a:t>SEEDS All-Day Dining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4592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全日 buffet · 一樓  ·  All-day buffet · 1F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332720" y="365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#SD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858000" cy="461772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965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34440" y="2240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 ·  No. 33 Xinguang Rd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2344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234440" y="3794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高流量 · 客單 NT$1,500–5,000(成人 buffet × 人數)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344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High volume · NT$1.5-5k (adult buffet × pax)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77240" y="452628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77240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60120" y="4937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buffet 結帳快 → 客人很可能還沒下載 LINE 就走了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60120" y="51480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Quick checkout — many leave before installing LINE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60120" y="5394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建議桌上立牌提早曝光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56052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Place QR on tables for early visibility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" y="58521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60120" y="5852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高比例載具客 → 拍小白單路徑要練熟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60120" y="60624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High carrier ratio — train photo path well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589520" y="1783080"/>
            <a:ext cx="4023360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2" name="Text 26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31720"/>
            <a:ext cx="3657600" cy="32918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72400" y="571500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7724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24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HAWKER 南洋料理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9D6"/>
                </a:solidFill>
              </a:rPr>
              <a:t>HAWKER Southeast Asian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4592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南洋風味 · 一樓  ·  Southeast Asian · 1F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332720" y="365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#HW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858000" cy="461772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965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34440" y="2240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 ·  No. 33 Xinguang Rd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2344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234440" y="3794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 NT$1,500–4,500,單身/雙人客居多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344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Ticket NT$1.5-4.5k, solo/duo diners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77240" y="452628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77240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60120" y="4937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客單接近 NT$2,000 門檻 → 練「下次再來」話術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60120" y="51480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Many near threshold — train 'come back next time'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60120" y="5394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多飯店住客 → 已是 LINE 好友比例高,跳過加好友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56052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Many hotel guests — likely already LINE friends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" y="58521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60120" y="5852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BLT33 共用立牌空間 → 留意 QR 不要拿錯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60120" y="60624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Shared signage area with BLT33 — don't mix QRs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589520" y="1783080"/>
            <a:ext cx="4023360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2" name="Text 26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31720"/>
            <a:ext cx="3657600" cy="32918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72400" y="571500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7724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24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BLT33 大廳酒吧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AD9D6"/>
                </a:solidFill>
              </a:rPr>
              <a:t>BLT33 Lobby Bar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4592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AD9D6"/>
                </a:solidFill>
              </a:rPr>
              <a:t>大廳酒吧 · 一樓  ·  Lobby bar · 1F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332720" y="365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#BL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858000" cy="461772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965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位址 · Address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34440" y="2240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高雄市前鎮區新光路 33 號  ·  No. 33 Xinguang Rd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電話 · Phone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2344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+886-7-3391888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EB4A9"/>
                </a:solidFill>
              </a:rPr>
              <a:t>客單常見值 · Typical ticket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234440" y="3794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935"/>
                </a:solidFill>
              </a:rPr>
              <a:t>客單 NT$2,000–4,000,酒水 + 小點居多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344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Ticket NT$2-4k, drinks + small plates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77240" y="4526280"/>
            <a:ext cx="64008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本店重點 · Outlet notes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77240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60120" y="4937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晚間客人多 + 飲酒 → 操作要簡單,結帳 QR 最快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60120" y="51480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Evening + alcohol — keep flow simple, Checkout QR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77240" y="53949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60120" y="53949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獨自客人多 → QR 立牌放吧台明顯處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0120" y="56052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Solo customers — prominent placement at bar counter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77240" y="58521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935"/>
                </a:solidFill>
              </a:rPr>
              <a:t>·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60120" y="5852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「Hotel Specific other」品項常見,不影響總計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60120" y="60624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'Hotel Specific other' line common; vision ignores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589520" y="1783080"/>
            <a:ext cx="4023360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2" name="Text 26"/>
          <p:cNvSpPr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專屬 QR Code · Outlet QR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31720"/>
            <a:ext cx="3657600" cy="32918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772400" y="5715000"/>
            <a:ext cx="36576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EB4A9"/>
                </a:solidFill>
              </a:rPr>
              <a:t>立牌位置建議 · Standee placement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7724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</a:rPr>
              <a:t>入口 + 各桌 + 收銀台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24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客人手機錯誤訊息 · 對照處理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Error Message Decoder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客人指著螢幕說「掃不過」時對照下表 · 結論:幾乎所有狀況都走「結帳 QR / 補發」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Bottom line: most issues are resolved by Checkout QR or Compensation Coupon.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384048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客人看到 · Customer sees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AD9D6"/>
                </a:solidFill>
              </a:rPr>
              <a:t>EN translation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2194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您怎麼做 · Your 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1064240" cy="278892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78608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請先綁定桌號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578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Bind a table first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2578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走 餐廳 QR / Use restaurant QR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857500"/>
            <a:ext cx="11064240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5750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不是電子發票格式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857500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Not an e-invoice QR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2857500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對準發票左側 QR / Aim at left side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136392"/>
            <a:ext cx="11064240" cy="278892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36392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不是 IC 開的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136392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Not from IC Kaohsiung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3136392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別家發票無法兌換 / Other vendor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415284"/>
            <a:ext cx="11064240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415284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發票日期過期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415284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Invoice date expired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3415284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走 結帳 QR / Issue Checkout QR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694176"/>
            <a:ext cx="11064240" cy="278892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694176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此發票已被使用過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3694176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Already used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3694176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走 客訴查詢 / Use Lookup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973068"/>
            <a:ext cx="11064240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973068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這一桌已兌換過一張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397306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One per binding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397306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客訴查詢 / 結帳 QR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11064240" cy="278892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25196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金額需滿 NT$2,000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251960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Below 2k threshold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251960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告知無法參加 / Inform: below threshold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530852"/>
            <a:ext cx="11064240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530852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圖片不夠清楚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4530852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Photo unclear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4530852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重拍 / 結帳 QR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4809744"/>
            <a:ext cx="11064240" cy="278892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809744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房客無發票要兌獎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4809744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Hotel guest, no invoice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55280" y="4809744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走 🏨 掛房帳模式 / Use Room Charge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088636"/>
            <a:ext cx="11064240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088636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連線逾時 / IdToken expired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0" y="5088636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Token timeout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55280" y="5088636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按 🔄 重新登入 / Tap Re-login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5367528"/>
            <a:ext cx="11064240" cy="278892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367528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⏰ QR Code 已過期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0" y="536752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QR expired (&gt;2 min)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955280" y="536752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935"/>
                </a:solidFill>
              </a:rPr>
              <a:t>按「重新產生」/ Tap Regenerate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5646420"/>
            <a:ext cx="11064240" cy="2788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564642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935"/>
                </a:solidFill>
              </a:rPr>
              <a:t>🆕 請先加 IC Kaohsiung 好友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0" y="5646420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Please add IC Kaohsiung as friend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55280" y="5646420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客人加完好友 → 自動偵測回遊戲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" y="5925312"/>
            <a:ext cx="11064240" cy="2788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" y="5925312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935"/>
                </a:solidFill>
              </a:rPr>
              <a:t>🆕 優惠券已領取過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0" y="5925312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Coupon already claimed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955280" y="5925312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已點過 LINE 領券鈕 → 教滑回對話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8640" y="6204204"/>
            <a:ext cx="11064240" cy="2788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4" name="Text 62"/>
          <p:cNvSpPr/>
          <p:nvPr/>
        </p:nvSpPr>
        <p:spPr>
          <a:xfrm>
            <a:off x="685800" y="6204204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935"/>
                </a:solidFill>
              </a:rPr>
              <a:t>🆕 客人說沒收到中獎券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0" y="6204204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'I didn't get the coupon'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955280" y="6204204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走 📨 補發模式 / Use Compensation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反作弊規則 + 絕對不要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Anti-Fraud Rules + Hard Prohibitions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4709160"/>
          </a:xfrm>
          <a:prstGeom prst="rect">
            <a:avLst/>
          </a:prstGeom>
          <a:solidFill>
            <a:srgbClr val="FAF8F6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反作弊 5 道鎖 / 5 Anti-Fraud Locks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系統自動運作,您不用記 / Automatic; no memorization needed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7240" y="2606040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賣方統編 = 91097496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2862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Seller VAT = 91097496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" y="3319272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3273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日期是今天或昨天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80160" y="3575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Date = today / yesterday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4032504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80160" y="3986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同一桌 20 分鐘限一張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One per binding / 20 min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7240" y="4745736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80160" y="47000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同張發票全世界唯一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8016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invoice_no unique globally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5458968"/>
            <a:ext cx="384048" cy="384048"/>
          </a:xfrm>
          <a:prstGeom prst="ellipse">
            <a:avLst/>
          </a:prstGeom>
          <a:solidFill>
            <a:srgbClr val="3D3935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80160" y="5413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🆕 每張券有單次使用 token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8016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🆕 Each coupon single-use token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63640" y="1691640"/>
            <a:ext cx="5349240" cy="4709160"/>
          </a:xfrm>
          <a:prstGeom prst="rect">
            <a:avLst/>
          </a:prstGeom>
          <a:solidFill>
            <a:srgbClr val="F4ECE7"/>
          </a:solidFill>
          <a:ln w="127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502920" cy="5029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3232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935"/>
                </a:solidFill>
              </a:rPr>
              <a:t>絕對不要 / Hard Prohibitions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71323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會被審計記錄,違反有紀律處分 / Audited; violations are disciplinary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49224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✗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6995160" y="2587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3935"/>
                </a:solidFill>
              </a:rPr>
              <a:t>PIN 寫在牆上紙條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995160" y="28529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Write PIN on a wall note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92240" y="3200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✗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6995160" y="3182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3935"/>
                </a:solidFill>
              </a:rPr>
              <a:t>QR 截圖傳給多人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6995160" y="34472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Share QR screenshot widely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492240" y="3794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✗</a:t>
            </a:r>
            <a:endParaRPr lang="en-US" sz="2000" dirty="0"/>
          </a:p>
        </p:txBody>
      </p:sp>
      <p:sp>
        <p:nvSpPr>
          <p:cNvPr id="40" name="Text 36"/>
          <p:cNvSpPr/>
          <p:nvPr/>
        </p:nvSpPr>
        <p:spPr>
          <a:xfrm>
            <a:off x="6995160" y="3776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3935"/>
                </a:solidFill>
              </a:rPr>
              <a:t>為了討好客人破壞規則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6995160" y="4041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Bend rules for customers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492240" y="4389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✗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699516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3935"/>
                </a:solidFill>
              </a:rPr>
              <a:t>替客人輸 LINE 帳號密碼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6995160" y="46360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Type customer LINE login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492240" y="4983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✗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6995160" y="4965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3935"/>
                </a:solidFill>
              </a:rPr>
              <a:t>輕信「朋友幫我領了」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6995160" y="5230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Trust 'friend redeemed' claims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492240" y="5577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✗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6995160" y="5559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3935"/>
                </a:solidFill>
              </a:rPr>
              <a:t>🆕 隨意補發大量同獎品給同一人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6995160" y="5824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🆕 Bulk-compensate same prize to one customer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24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練習情境 · 主管帶大家演練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Role-Play Scenarios · For Manager-led Training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讀情境 → 想您會怎麼處理 → 對答案 / Read scenario → Plan your response → Check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05156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109728" cy="1051560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EB4A9"/>
                </a:solidFill>
              </a:rPr>
              <a:t>情境 1 / Scenario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客人結帳後說:「我用載具,沒拿到發票,但我同事說可以拿擲骰?」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Customer: 'I used a carrier, no printed invoice. My colleague said I can get dice?'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7249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→ 教他點 LIFF 主畫面「📸 我用載具(拍小白單)」自助,或您幫他開「結帳 QR」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64240" cy="1051560"/>
          </a:xfrm>
          <a:prstGeom prst="rect">
            <a:avLst/>
          </a:prstGeom>
          <a:solidFill>
            <a:srgbClr val="FAF8F6"/>
          </a:solidFill>
          <a:ln w="12700">
            <a:solidFill>
              <a:srgbClr val="DAD9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109728" cy="1051560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EB4A9"/>
                </a:solidFill>
              </a:rPr>
              <a:t>情境 2 / Scenario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客人激動地說:「我這張 BM-12345678 明明沒用過,為什麼系統說已使用?」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639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Customer angrily: 'My BM-12345678 was never used, why does it say it has been?'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8679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→ 開 /admin/lookup 輸入發票編號 → 給客人看紅色畫面(使用時間 / 暱稱 / 桌號)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1051560"/>
          </a:xfrm>
          <a:prstGeom prst="rect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51960"/>
            <a:ext cx="109728" cy="1051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47857"/>
                </a:solidFill>
              </a:rPr>
              <a:t>情境 3 / Scenario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526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🆕 客人說「我中獎了但沒收到券」(LINE 對話框翻遍找不到)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782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🆕 Customer: 'I won but never got the coupon' (can't find in LINE chat)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50109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→ 進 /admin/checkout 切「📨 補發」模式 → 挑該獎品 → 產 QR 客人掃 → 直接補一張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94960"/>
            <a:ext cx="109728" cy="1051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40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47857"/>
                </a:solidFill>
              </a:rPr>
              <a:t>情境 4 / Scenario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</a:rPr>
              <a:t>🆕 客人說:「我點 LINE 的領券按鈕,但顯示『已領取過』」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6869"/>
                </a:solidFill>
              </a:rPr>
              <a:t>🆕 Customer: 'I tapped the LINE coupon button but it says "already claimed"'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61539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→ 正常 — 一張券只能領一次。教他往上滑 LINE 對話歷史找之前的券,或搜尋「優惠券」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快速參考卡 · 列印貼在服務站抽屜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86869"/>
                </a:solidFill>
              </a:rPr>
              <a:t>Quick Reference Card · Print and Pin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14400" cy="36576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103327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39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783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EB4A9"/>
                </a:solidFill>
              </a:rPr>
              <a:t>IC Kaohsiung · Staff Quick Reference v3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結帳 QR · Checkout QR  (3 modes)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88720" y="2788920"/>
            <a:ext cx="4846320" cy="411480"/>
          </a:xfrm>
          <a:prstGeom prst="rect">
            <a:avLst/>
          </a:prstGeom>
          <a:solidFill>
            <a:srgbClr val="F2EDE9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/admin/checkout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💳 一般  ·  🏨 掛房帳  ·  📨 補發 (3 mode toggle)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8720" y="3493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Regular / Room Charge / Compensation toggle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1792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客訴查詢 · Customer Lookup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2788920"/>
            <a:ext cx="4846320" cy="411480"/>
          </a:xfrm>
          <a:prstGeom prst="rect">
            <a:avLst/>
          </a:prstGeom>
          <a:solidFill>
            <a:srgbClr val="F2EDE9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/admin/lookup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1792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</a:rPr>
              <a:t>→ 查發票誰用過、何時用過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3493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→ Lookup who/when used invoice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8872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PIN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88720" y="4297680"/>
            <a:ext cx="48463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8872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188720" y="4892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(同時用於上面兩個網址)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88720" y="5120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69"/>
                </a:solidFill>
              </a:rPr>
              <a:t>Used for BOTH URLs above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EB4A9"/>
                </a:solidFill>
              </a:rPr>
              <a:t>五家餐廳 QR 對應代碼 · Outlet codes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17920" y="4297680"/>
            <a:ext cx="777240" cy="256032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0" y="4297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#ZL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32320" y="4297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湛露 / Zhan Lu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217920" y="4590288"/>
            <a:ext cx="777240" cy="256032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0" y="45902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132320" y="4590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WA-RA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17920" y="4882896"/>
            <a:ext cx="777240" cy="256032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0" y="4882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132320" y="4882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SEEDS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17920" y="5175504"/>
            <a:ext cx="777240" cy="256032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5" name="Text 32"/>
          <p:cNvSpPr/>
          <p:nvPr/>
        </p:nvSpPr>
        <p:spPr>
          <a:xfrm>
            <a:off x="6217920" y="51755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#HW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132320" y="5175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HAWKER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17920" y="5468112"/>
            <a:ext cx="777240" cy="256032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38" name="Text 35"/>
          <p:cNvSpPr/>
          <p:nvPr/>
        </p:nvSpPr>
        <p:spPr>
          <a:xfrm>
            <a:off x="6217920" y="5468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#BL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132320" y="5468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</a:rPr>
              <a:t>BLT33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1" name="Text 38"/>
          <p:cNvSpPr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🤖 系統自動做 / Auto:  加好友偵測  ·  中獎自動推 LINE  ·  單次使用 token 防無限刷  →  您不用做任何事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914400" y="6172200"/>
            <a:ext cx="10332720" cy="18288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43" name="Text 40"/>
          <p:cNvSpPr/>
          <p:nvPr/>
        </p:nvSpPr>
        <p:spPr>
          <a:xfrm>
            <a:off x="914400" y="6172200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EB4A9"/>
                </a:solidFill>
              </a:rPr>
              <a:t>規則 · NT$2,000 = 1 擲骰  ·  上限 5 次  ·  QR 2 分鐘 TTL  ·  Tony Chen tony.chen6@ihg.com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8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69"/>
                </a:solidFill>
              </a:rPr>
              <a:t>IC Kaohsiung · Staff Guide v2026-06-04 (v3)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CEB4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InterContinental KAOHSIUNG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感謝您  ·  Thank You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5166360" y="2468880"/>
            <a:ext cx="1828800" cy="45720"/>
          </a:xfrm>
          <a:prstGeom prst="rect">
            <a:avLst/>
          </a:prstGeom>
          <a:solidFill>
            <a:srgbClr val="CEB4A9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697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AD9D6"/>
                </a:solidFill>
              </a:rPr>
              <a:t>您的細心是這個遊戲成功的關鍵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86869"/>
                </a:solidFill>
              </a:rPr>
              <a:t>Your attention to detail is what makes this work.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4023360"/>
            <a:ext cx="9418320" cy="2194560"/>
          </a:xfrm>
          <a:prstGeom prst="rect">
            <a:avLst/>
          </a:prstGeom>
          <a:solidFill>
            <a:srgbClr val="26211E"/>
          </a:solidFill>
          <a:ln w="12700">
            <a:solidFill>
              <a:srgbClr val="CEB4A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EB4A9"/>
                </a:solidFill>
              </a:rPr>
              <a:t>緊急聯絡 · Emergency Contacts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9164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AD9D6"/>
                </a:solidFill>
              </a:rPr>
              <a:t>產品 / 行銷主導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91640" y="4937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Product / Marketing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Tony Chen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5623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tony.chen6@ihg.com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0916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AD9D6"/>
                </a:solidFill>
              </a:rPr>
              <a:t>餐飲部主管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4937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F&amp;B Department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09160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 現場填 ]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5623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2668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AD9D6"/>
                </a:solidFill>
              </a:rPr>
              <a:t>IT 部門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26680" y="4937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86869"/>
                </a:solidFill>
              </a:rPr>
              <a:t>IT Department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726680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 現場填 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26680" y="5623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B4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86869"/>
                </a:solidFill>
              </a:rPr>
              <a:t>v2026-06-04 (v3)  ·  上線後最新版  ·  All 5 F&amp;B outlets · 3-mode checkout · auto-push 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Kaohsiung · Staff Operations Guide v3</dc:title>
  <dc:subject>PptxGenJS Presentation</dc:subject>
  <dc:creator>Tony Chen · IC Kaohsiung</dc:creator>
  <cp:lastModifiedBy>Tony Chen · IC Kaohsiung</cp:lastModifiedBy>
  <cp:revision>1</cp:revision>
  <dcterms:created xsi:type="dcterms:W3CDTF">2026-06-04T02:04:07Z</dcterms:created>
  <dcterms:modified xsi:type="dcterms:W3CDTF">2026-06-04T02:04:07Z</dcterms:modified>
</cp:coreProperties>
</file>